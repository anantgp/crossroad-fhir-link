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93e18544844ce" /><Relationship Type="http://schemas.openxmlformats.org/officeDocument/2006/relationships/extended-properties" Target="/docProps/app.xml" Id="R071adac9c9234305" /><Relationship Type="http://schemas.openxmlformats.org/officeDocument/2006/relationships/officeDocument" Target="/ppt/presentation.xml" Id="Rf95eca360d77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db2041a98f48ed"/>
  </p:sldMasterIdLst>
  <p:notesMasterIdLst>
    <p:notesMasterId xmlns:r="http://schemas.openxmlformats.org/officeDocument/2006/relationships" r:id="Rf549d2f3c3c447ba"/>
  </p:notesMasterIdLst>
  <p:sldIdLst>
    <p:sldId xmlns:r="http://schemas.openxmlformats.org/officeDocument/2006/relationships" id="256" r:id="R1a0328723ee348f1"/>
    <p:sldId xmlns:r="http://schemas.openxmlformats.org/officeDocument/2006/relationships" id="257" r:id="R52364672a87f4d87"/>
    <p:sldId xmlns:r="http://schemas.openxmlformats.org/officeDocument/2006/relationships" id="258" r:id="R7951849cf6d14f3b"/>
    <p:sldId xmlns:r="http://schemas.openxmlformats.org/officeDocument/2006/relationships" id="259" r:id="Rc99aafc349a34e3c"/>
    <p:sldId xmlns:r="http://schemas.openxmlformats.org/officeDocument/2006/relationships" id="260" r:id="R8b7be620789941e6"/>
    <p:sldId xmlns:r="http://schemas.openxmlformats.org/officeDocument/2006/relationships" id="261" r:id="R379d72d2b3d449dc"/>
    <p:sldId xmlns:r="http://schemas.openxmlformats.org/officeDocument/2006/relationships" id="262" r:id="R8d508fd4e30c4e7c"/>
    <p:sldId xmlns:r="http://schemas.openxmlformats.org/officeDocument/2006/relationships" id="263" r:id="R86dc1564cd5142b9"/>
    <p:sldId xmlns:r="http://schemas.openxmlformats.org/officeDocument/2006/relationships" id="264" r:id="R91f6ce1d50b44ebd"/>
    <p:sldId xmlns:r="http://schemas.openxmlformats.org/officeDocument/2006/relationships" id="265" r:id="Rf87da39cd57d45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a0c34bc83b4064" /><Relationship Type="http://schemas.openxmlformats.org/officeDocument/2006/relationships/slideMaster" Target="/ppt/slideMasters/slideMaster1.xml" Id="Rdbdb2041a98f48ed" /><Relationship Type="http://schemas.openxmlformats.org/officeDocument/2006/relationships/notesMaster" Target="/ppt/notesMasters/notesMaster1.xml" Id="Rf549d2f3c3c447ba" /><Relationship Type="http://schemas.openxmlformats.org/officeDocument/2006/relationships/presProps" Target="/ppt/presProps.xml" Id="R991435195e4f4f0c" /><Relationship Type="http://schemas.openxmlformats.org/officeDocument/2006/relationships/tableStyles" Target="/ppt/tableStyles.xml" Id="R5a1a6695a41d4119" /><Relationship Type="http://schemas.openxmlformats.org/officeDocument/2006/relationships/slide" Target="/ppt/slides/slide1.xml" Id="R1a0328723ee348f1" /><Relationship Type="http://schemas.openxmlformats.org/officeDocument/2006/relationships/slide" Target="/ppt/slides/slide2.xml" Id="R52364672a87f4d87" /><Relationship Type="http://schemas.openxmlformats.org/officeDocument/2006/relationships/slide" Target="/ppt/slides/slide3.xml" Id="R7951849cf6d14f3b" /><Relationship Type="http://schemas.openxmlformats.org/officeDocument/2006/relationships/slide" Target="/ppt/slides/slide4.xml" Id="Rc99aafc349a34e3c" /><Relationship Type="http://schemas.openxmlformats.org/officeDocument/2006/relationships/slide" Target="/ppt/slides/slide5.xml" Id="R8b7be620789941e6" /><Relationship Type="http://schemas.openxmlformats.org/officeDocument/2006/relationships/slide" Target="/ppt/slides/slide6.xml" Id="R379d72d2b3d449dc" /><Relationship Type="http://schemas.openxmlformats.org/officeDocument/2006/relationships/slide" Target="/ppt/slides/slide7.xml" Id="R8d508fd4e30c4e7c" /><Relationship Type="http://schemas.openxmlformats.org/officeDocument/2006/relationships/slide" Target="/ppt/slides/slide8.xml" Id="R86dc1564cd5142b9" /><Relationship Type="http://schemas.openxmlformats.org/officeDocument/2006/relationships/slide" Target="/ppt/slides/slide9.xml" Id="R91f6ce1d50b44ebd" /><Relationship Type="http://schemas.openxmlformats.org/officeDocument/2006/relationships/slide" Target="/ppt/slides/slide10.xml" Id="Rf87da39cd57d45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71be90471140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88f7455b814f86" /><Relationship Type="http://schemas.openxmlformats.org/officeDocument/2006/relationships/notesMaster" Target="/ppt/notesMasters/notesMaster1.xml" Id="R1244b0c22193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3558165b14734" /><Relationship Type="http://schemas.openxmlformats.org/officeDocument/2006/relationships/notesMaster" Target="/ppt/notesMasters/notesMaster1.xml" Id="Rf8efa5c413114d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a59080dd64c53" /><Relationship Type="http://schemas.openxmlformats.org/officeDocument/2006/relationships/notesMaster" Target="/ppt/notesMasters/notesMaster1.xml" Id="Re19211f7dadc47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91f564500445d7" /><Relationship Type="http://schemas.openxmlformats.org/officeDocument/2006/relationships/notesMaster" Target="/ppt/notesMasters/notesMaster1.xml" Id="R147e422b9105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74de67760a4cc6" /><Relationship Type="http://schemas.openxmlformats.org/officeDocument/2006/relationships/notesMaster" Target="/ppt/notesMasters/notesMaster1.xml" Id="R76624a1dd65740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f6260e39fc4bba" /><Relationship Type="http://schemas.openxmlformats.org/officeDocument/2006/relationships/notesMaster" Target="/ppt/notesMasters/notesMaster1.xml" Id="Ra1fa7b1aef18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603dc69a4c4065" /><Relationship Type="http://schemas.openxmlformats.org/officeDocument/2006/relationships/notesMaster" Target="/ppt/notesMasters/notesMaster1.xml" Id="Rda75c0bc8ce34b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f9f0620ba54510" /><Relationship Type="http://schemas.openxmlformats.org/officeDocument/2006/relationships/notesMaster" Target="/ppt/notesMasters/notesMaster1.xml" Id="Rb45b9811ae674f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fa7005e9a467c" /><Relationship Type="http://schemas.openxmlformats.org/officeDocument/2006/relationships/notesMaster" Target="/ppt/notesMasters/notesMaster1.xml" Id="R3dde4134b3994b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f155b8d9f946f5" /><Relationship Type="http://schemas.openxmlformats.org/officeDocument/2006/relationships/notesMaster" Target="/ppt/notesMasters/notesMaster1.xml" Id="R5ef761602eb440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07016028545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ec0f6d00e94438" /><Relationship Type="http://schemas.openxmlformats.org/officeDocument/2006/relationships/slideLayout" Target="/ppt/slideLayouts/slideLayout1.xml" Id="Ra6f47d6664ab44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47d6664ab44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6d474340f4927" /><Relationship Type="http://schemas.openxmlformats.org/officeDocument/2006/relationships/image" Target="/ppt/media/image.jpeg" Id="Rbad1bc4d466c48ed" /><Relationship Type="http://schemas.openxmlformats.org/officeDocument/2006/relationships/image" Target="/ppt/media/image.png" Id="R5b5c36e8542148a1" /><Relationship Type="http://schemas.openxmlformats.org/officeDocument/2006/relationships/notesSlide" Target="/ppt/notesSlides/notesSlide1.xml" Id="R0df6853b572a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d0d0d04274dda" /><Relationship Type="http://schemas.openxmlformats.org/officeDocument/2006/relationships/notesSlide" Target="/ppt/notesSlides/notesSlide2.xml" Id="Rdccc419d96534a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813899ac54ed2" /><Relationship Type="http://schemas.openxmlformats.org/officeDocument/2006/relationships/notesSlide" Target="/ppt/notesSlides/notesSlide3.xml" Id="R3cce2b57008f4b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8518ee07c4ca9" /><Relationship Type="http://schemas.openxmlformats.org/officeDocument/2006/relationships/notesSlide" Target="/ppt/notesSlides/notesSlide4.xml" Id="Re66ca9f9f08446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cfcd269cf4e9b" /><Relationship Type="http://schemas.openxmlformats.org/officeDocument/2006/relationships/notesSlide" Target="/ppt/notesSlides/notesSlide5.xml" Id="R146851372682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77fa5c2e34705" /><Relationship Type="http://schemas.openxmlformats.org/officeDocument/2006/relationships/notesSlide" Target="/ppt/notesSlides/notesSlide6.xml" Id="R63b64511acb345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f794df423466b" /><Relationship Type="http://schemas.openxmlformats.org/officeDocument/2006/relationships/notesSlide" Target="/ppt/notesSlides/notesSlide7.xml" Id="R56101520facf41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8badca3f74fc4" /><Relationship Type="http://schemas.openxmlformats.org/officeDocument/2006/relationships/notesSlide" Target="/ppt/notesSlides/notesSlide8.xml" Id="R2c92f127fafc4b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a636ce8d2495e" /><Relationship Type="http://schemas.openxmlformats.org/officeDocument/2006/relationships/notesSlide" Target="/ppt/notesSlides/notesSlide9.xml" Id="R1b0b55cfac7946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fabc60b7946e5" /><Relationship Type="http://schemas.openxmlformats.org/officeDocument/2006/relationships/image" Target="/ppt/media/image2.png" Id="Ra364889229e74a92" /><Relationship Type="http://schemas.openxmlformats.org/officeDocument/2006/relationships/notesSlide" Target="/ppt/notesSlides/notesSlide10.xml" Id="R3d947e6c4cb84a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64134-ACE1-475E-9D60-19DFCEA6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6CB6-5826-4DF5-92AE-CD0FEEA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HL7 AI CHALLENGE 2026 · EFFICIENCY &amp; EFFECTIVENESS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FD02D-E784-4A38-8116-0016829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4476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8242E"/>
                </a:solidFill>
              </a:defRPr>
            </a:pPr>
            <a:r>
              <a:rPr sz="4050" b="1">
                <a:solidFill>
                  <a:srgbClr val="18242E"/>
                </a:solidFill>
              </a:rPr>
              <a:t>Cross-Border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8242E"/>
                </a:solidFill>
              </a:defRPr>
            </a:pPr>
            <a:r>
              <a:rPr sz="4050" b="1">
                <a:solidFill>
                  <a:srgbClr val="18242E"/>
                </a:solidFill>
              </a:rPr>
              <a:t>IPS AI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DD1B8-57B0-4F9E-AE74-4B4966E0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07283"/>
                </a:solidFill>
              </a:defRPr>
            </a:pPr>
            <a:r>
              <a:rPr sz="1650" b="0">
                <a:solidFill>
                  <a:srgbClr val="607283"/>
                </a:solidFill>
              </a:rPr>
              <a:t>Federated terminology learning + FHIR-native mappings + an International Patient Summary (IPS) Bundle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57B60-CF1A-4B37-A227-90875D4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B1BAF-62B1-4189-9CC8-6330A247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B55"/>
                </a:solidFill>
              </a:defRPr>
            </a:pPr>
            <a:r>
              <a:rPr sz="1800" b="1">
                <a:solidFill>
                  <a:srgbClr val="075B55"/>
                </a:solidFill>
              </a:rPr>
              <a:t>Local clinical language becomes coded, auditable, and exchangeable across borders.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F72B2-9280-4201-B8F3-AC1DC69C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6250"/>
            <a:ext cx="6191250" cy="561975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1bc4d466c48ed"/>
          <a:srcRect xmlns:a="http://schemas.openxmlformats.org/drawingml/2006/main" l="11597" t="0" r="115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450" y="590550"/>
            <a:ext cx="5962650" cy="5391150"/>
          </a:xfrm>
          <a:prstGeom xmlns:a="http://schemas.openxmlformats.org/drawingml/2006/main" prst="roundRect">
            <a:avLst>
              <a:gd name="adj" fmla="val 141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2FE1B-3FB9-4B11-8755-0D943FBB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TEAM · TECH ADAPTIVE PANDIT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7BA3F-84C9-4022-8B36-456327F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Anant Gupta · Manish Gupta · Gourav Gupta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c36e8542148a1"/>
          <a:stretch xmlns:a="http://schemas.openxmlformats.org/drawingml/2006/main"/>
        </p:blipFill>
        <p:spPr>
          <a:xfrm xmlns:a="http://schemas.openxmlformats.org/drawingml/2006/main" flipH="0" flipV="0">
            <a:off x="647700" y="4000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6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00F5F-4C88-478D-BE70-D101715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64E8-11BB-4B0F-96F7-7D0AE8F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D47AB-BCDB-4FD2-89B1-D6F6C2D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33A94-60CA-4836-8A85-BD804B5E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1611C-00F5-4FCA-9699-7E7C6C90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ACF24-4354-4658-9523-F3268943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Make local clinical language computable across borders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9C192-7ADA-4671-A410-FA0BC102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EC8BF-6043-4714-9BDF-705FA53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525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Receiver EHRs cannot interpret local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9B331-639A-46C7-BFBC-A659B100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7A0A5-8BAC-4A15-A8B8-8E082E5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One coded, machine-readable patient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3DBE5-6127-474E-ADAF-9F1A6544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DF3F8-BE38-4FD8-8034-57C80551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146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Federated terminology learning + FHIR 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0722D-FCA7-4D8E-ACD3-B159E45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F459C-4307-4BFF-8590-475AA7C3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957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Auditable sharing; less manual recoding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0B83D-2ED5-41C0-91CE-50F115EC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46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BD3E4-74DF-4FEC-996E-2735CF3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476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20600-C29B-4B92-885E-DBDD555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09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CORE 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B48C7-4128-4906-B0FB-6E481B08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42E"/>
                </a:solidFill>
              </a:defRPr>
            </a:pPr>
            <a:r>
              <a:rPr sz="2250" b="1">
                <a:solidFill>
                  <a:srgbClr val="18242E"/>
                </a:solidFill>
              </a:rPr>
              <a:t>The interoperable summary travels.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3E48B-7730-4EE1-B6A8-A84E23D5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5B55"/>
                </a:solidFill>
              </a:defRPr>
            </a:pPr>
            <a:r>
              <a:rPr sz="1425" b="1">
                <a:solidFill>
                  <a:srgbClr val="075B55"/>
                </a:solidFill>
              </a:rPr>
              <a:t>The learning stays local.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30609-07A5-42E5-856E-EACA387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A9"/>
                </a:solidFill>
              </a:defRPr>
            </a:pPr>
            <a:r>
              <a:rPr sz="1350" b="1">
                <a:solidFill>
                  <a:srgbClr val="2563A9"/>
                </a:solidFill>
              </a:rPr>
              <a:t>FHIR terminology + 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D1AF9-4D02-4DE4-8FEF-E0ABE13A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42E"/>
                </a:solidFill>
              </a:defRPr>
            </a:pPr>
            <a:r>
              <a:rPr sz="1350" b="1">
                <a:solidFill>
                  <a:srgbClr val="18242E"/>
                </a:solidFill>
              </a:rPr>
              <a:t>The deck proves this with a synthetic benchmark, FHIR-native mapping traces, and official IPS validator evidence.</a:t>
            </a:r>
          </a:p>
        </p:txBody>
      </p:sp>
    </p:spTree>
    <p:extLst>
      <p:ext uri="{BB962C8B-B14F-4D97-AF65-F5344CB8AC3E}">
        <p14:creationId xmlns:p14="http://schemas.microsoft.com/office/powerpoint/2010/main" val="1644796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74183-5CA7-4EAB-BA99-02FAB5F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7CA54-434C-4EC9-91FC-F6A28EE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OBJECTIVE + 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D7CA0-2073-4DA9-9D30-A78D5A93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7C73E-3374-4E11-A7C5-FE55590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49C97-D1E6-42A7-BD59-5518ECA0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2684C-06A9-4C2F-A16E-0791AF02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One coded summary supports a cross-border handoff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FA03A-46F2-4B54-BE2D-78F4CDD4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432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8D55A-EAC3-4584-A19E-FA56559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762250" cy="28575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07694-D819-40B1-A8A2-C88B0DA2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14500"/>
            <a:ext cx="2762250" cy="28575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52632"/>
          </a:solidFill>
          <a:ln xmlns:a="http://schemas.openxmlformats.org/drawingml/2006/main" w="9525">
            <a:solidFill>
              <a:srgbClr val="1526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66407-8B57-48E9-AC52-50712D29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2762250" cy="28575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D5387-FA4E-4F2F-BCB8-87C43D17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8132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1D0B6-4F7F-4C92-B1D8-288440A8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8132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4D4A2-6D95-4BA0-A012-770329CF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181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SOURCE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3540B-0D86-4DE6-A3AD-61F5B5B7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USA follow-up 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72B8D-A662-4CFA-90FF-C66ADD2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T2DM · A1c 7.8%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metformin 1000 mg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99519-EC00-4B13-A130-94F1216D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Human-readable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388E7-D9A5-4AD5-AF2C-3C9AE45B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228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3414D"/>
          </a:solidFill>
          <a:ln xmlns:a="http://schemas.openxmlformats.org/drawingml/2006/main" w="9525">
            <a:solidFill>
              <a:srgbClr val="3D637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INTEROPERABLE ARTIFACT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000B5-7D58-4216-A1C4-9D6623FD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FHIR IPS-style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 Bundle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F579A-0FFF-4DAD-BBE1-83DE24B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7E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D8E7EB"/>
                </a:solidFill>
                <a:latin typeface="Calibri"/>
                <a:ea typeface="Calibri"/>
                <a:cs typeface="Calibri"/>
              </a:rPr>
              <a:t>Composition first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D8E7E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D8E7EB"/>
                </a:solidFill>
                <a:latin typeface="Calibri"/>
                <a:ea typeface="Calibri"/>
                <a:cs typeface="Calibri"/>
              </a:rPr>
              <a:t>Coded Condition, Observation, MedicationStatement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9BB04-8668-4C92-B1AE-4BFF6320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0"/>
            <a:ext cx="13144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RECEIVER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24D94-2D74-45BD-B9C0-13168B0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India patient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35444-95BC-4DC2-8F8D-9B438692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Type 2 diabetes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HbA1c 7.8%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readiness gaps shown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68536-398C-4F1F-8244-1385BA6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Human-readable rendering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CB659-2DCF-4F66-AC27-5B6CF561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FHIR IPS is the machine-readable cross-border artifact; PDFs remain human-readable views.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0B84B-2ABB-4858-851A-A668B14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95950"/>
            <a:ext cx="495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6EF"/>
          </a:solidFill>
          <a:ln xmlns:a="http://schemas.openxmlformats.org/drawingml/2006/main" w="9525">
            <a:solidFill>
              <a:srgbClr val="B9DFC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8B62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8B62"/>
                </a:solidFill>
                <a:latin typeface="Calibri"/>
                <a:ea typeface="Calibri"/>
                <a:cs typeface="Calibri"/>
              </a:rPr>
              <a:t>Expected impact: less recoding, traceable handoffs</a:t>
            </a:r>
          </a:p>
        </p:txBody>
      </p:sp>
    </p:spTree>
    <p:extLst>
      <p:ext uri="{BB962C8B-B14F-4D97-AF65-F5344CB8AC3E}">
        <p14:creationId xmlns:p14="http://schemas.microsoft.com/office/powerpoint/2010/main" val="1209123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27913-D583-4766-B8FD-A13D86A5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A2DE2-8F91-43FD-A6AA-18479156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E78FB-356E-4398-8959-8A20B0A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0058D-8571-42F6-9BF0-703C76D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6E23-4773-4DE3-950E-986D50C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BE3C5-F2D5-4825-A3B5-95FA6DC6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Every mapping is traceable from source phrase to FHIR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F3A31-2F84-4212-8741-755F697C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83"/>
                </a:solidFill>
              </a:defRPr>
            </a:pPr>
            <a:r>
              <a:rPr sz="1350" b="0">
                <a:solidFill>
                  <a:srgbClr val="607283"/>
                </a:solidFill>
              </a:rPr>
              <a:t>Registry first. Federated linker for unknown phrases. FHIR terminology checks. Then IPS packaging.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A0C9E-8F9C-43A5-BEE5-7E40347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0077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6C76C-080E-4D2D-BFA6-C1EFA2CF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4573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D64F3-2B6F-43C4-A6D2-C3E3681B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381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0AA8B-A7E8-4E56-936B-D7B849E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Report / EHR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2DD88-7F8B-4DC6-8EC1-7A32CBD0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228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structured or 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22F2E-305E-4706-9E3B-74B2CD0C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905000"/>
            <a:ext cx="14573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0BF19-2346-4D27-BDA6-C83A4401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38350"/>
            <a:ext cx="381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F94B2-81F7-406D-913D-C0B5CA4D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003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Clinical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CDD83-0CC8-4284-BD46-421C5E72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76550"/>
            <a:ext cx="1228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source spans retained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F7F26-0FF0-4B2E-88A7-5A14D22D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05000"/>
            <a:ext cx="14573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F4E98-0A51-424F-9C13-6A8583DA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381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9CC51-7E36-44E7-BFBB-CA4AB7B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Local 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C597A-5FA8-4818-B77D-9298BB0B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1228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trusted mappings 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00C56-AB8F-4B13-B553-2D8EAA5A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05000"/>
            <a:ext cx="14573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A8C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B9190-9263-4F75-8205-825F1154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38350"/>
            <a:ext cx="381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D6FB7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D6FB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6AE3A-BB46-4972-9850-3228687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003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Federated linker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9CCA2-7D61-456C-BE5F-2FE15E7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76550"/>
            <a:ext cx="1228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unknown local phrase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C2729-90F0-4534-89D8-F638B8D2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05000"/>
            <a:ext cx="14573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DA90D-0171-48F1-8732-26DE5F3D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38350"/>
            <a:ext cx="381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5D50E-EB09-4AA5-8245-CC146347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FHIR terminology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30CD4-472F-4BE7-BB76-6299E7DD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1228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ConceptMap +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3C1F7-C9D9-4EB0-AB37-66958C9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05000"/>
            <a:ext cx="14573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D2DA0D-0B80-43C4-98E7-07E627E0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81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C0651-AA7F-44B8-A902-12891892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003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FHIR IPS Bundle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31E36-0EAD-4E99-A1CD-22422E3A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76550"/>
            <a:ext cx="1228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document + resources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9FBE6-1A03-4B40-8D86-52A6CA7D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0"/>
            <a:ext cx="14573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594B6C-353F-4B53-8247-8D5CA2F7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38350"/>
            <a:ext cx="381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038D2F-D870-4CB0-8112-048AF472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03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Receiver readiness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2D2A3-26E1-4CEB-8515-1FF16B91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76550"/>
            <a:ext cx="1228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gaps, not certification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F5B767-CA4F-4D15-A348-6338ADE0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F1BDA2-241E-41BC-9289-CAFBD75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AUDIT TRACE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6821E5-70B0-4432-A8D4-65DE04EB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447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SOURCE PHRASE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59FDFE-7ADC-4D0E-AA4D-44C2BE66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4479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T2DM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3299BC-B532-4401-91AA-34709495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6247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88E9CD-6066-42E0-A16B-722BE29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343400"/>
            <a:ext cx="2447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CANONICAL CONCEPT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CB0678-1E95-4F6C-9AE9-F131F42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24479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Type 2 diabetes mellitus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4122C1-FB57-4F38-AD1F-4153D7C9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56247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18AF3F-1532-4FF1-B44F-2D4126F3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2447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STANDARD CODES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136921-981B-4955-AF75-B642A2A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24479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SNOMED CT 44054006 · ICD-10 E11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CA42D1-6D96-47D3-8B0C-3F2995D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766A0E-83E1-405E-9077-AC50E70C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343400"/>
            <a:ext cx="2447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FHIR DESTINATION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58FEE3-B0ED-4CC0-B4BC-293C9A5C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86300"/>
            <a:ext cx="24479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Condition resource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D30AA4-D1E1-42BC-9E7F-DDD30BC2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009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8610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86100"/>
                </a:solidFill>
                <a:latin typeface="Calibri"/>
                <a:ea typeface="Calibri"/>
                <a:cs typeface="Calibri"/>
              </a:rPr>
              <a:t>Low-confidence predictions stop for human review and do not create trusted clinical codes.</a:t>
            </a:r>
          </a:p>
        </p:txBody>
      </p:sp>
    </p:spTree>
    <p:extLst>
      <p:ext uri="{BB962C8B-B14F-4D97-AF65-F5344CB8AC3E}">
        <p14:creationId xmlns:p14="http://schemas.microsoft.com/office/powerpoint/2010/main" val="795337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1F038-991B-4838-BB59-6ABE862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78D49-870D-4CC0-8C3A-80C6630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FEDERATED TERMINOLOGY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F5B33-E2A7-4801-BA90-2AB9F8F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4E5F1-6ED6-40B3-81D7-73694FF0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635B7-4159-4842-B67F-070D605F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A1791-F694-45FB-A545-7A61671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700" b="1">
                <a:solidFill>
                  <a:srgbClr val="18242E"/>
                </a:solidFill>
              </a:rPr>
              <a:t>Federated learning aligns local terms without pooling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BE909-5911-4C6D-8B8A-9B754AA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7865C"/>
                </a:solidFill>
              </a:defRPr>
            </a:pPr>
            <a:r>
              <a:rPr sz="2775" b="1">
                <a:solidFill>
                  <a:srgbClr val="075B55"/>
                </a:solidFill>
              </a:rPr>
              <a:t>768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96E68-0654-4BEC-A879-4E87969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local training phrase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411CB-6924-4777-A1FA-FCB0BA33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8242E"/>
                </a:solidFill>
              </a:defRPr>
            </a:pPr>
            <a:r>
              <a:rPr sz="2775" b="1">
                <a:solidFill>
                  <a:srgbClr val="18242E"/>
                </a:solidFill>
              </a:rPr>
              <a:t>47/48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66FDE-E50B-4074-A6E6-94A55F6E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local-only correct transfer mappings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ED3C6-5552-426E-8F2A-2698334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F766E"/>
                </a:solidFill>
              </a:defRPr>
            </a:pPr>
            <a:r>
              <a:rPr sz="2775" b="1">
                <a:solidFill>
                  <a:srgbClr val="228B62"/>
                </a:solidFill>
              </a:rPr>
              <a:t>48/48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D3933-32F8-41FD-A2D6-38ADE92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federated correct transfer mappings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AEEE8-FF95-4139-A174-EC962A4C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242E"/>
                </a:solidFill>
              </a:defRPr>
            </a:pPr>
            <a:r>
              <a:rPr sz="2625" b="1">
                <a:solidFill>
                  <a:srgbClr val="2D6FB7"/>
                </a:solidFill>
              </a:rPr>
              <a:t>192/192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BBD13-020F-4A1E-AFD3-0D04BBB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66B00"/>
                </a:solidFill>
              </a:defRPr>
            </a:pPr>
            <a:r>
              <a:rPr sz="1050" b="1">
                <a:solidFill>
                  <a:srgbClr val="607283"/>
                </a:solidFill>
              </a:rPr>
              <a:t>globally unseen test / seed · macro-F1 1.000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F517F-5005-4503-8DB9-CA393A98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Across five seeds, the federated model mapped all 48 transfer phrases; local-only models missed 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45166-D82D-4217-9C39-05DC42C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28950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1AF5A-5B7C-4072-8FAB-3FEA52C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91000"/>
            <a:ext cx="173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DB2A1-18D4-4CBF-BB4E-4A2B342C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910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CA24E-A8FE-4CF7-B158-EB99C36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91000"/>
            <a:ext cx="285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45428-3639-40F7-AB87-7BDA1B2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191000"/>
            <a:ext cx="285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114FB-0E95-4527-8A1B-33FFACE7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2880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CB4AA-E2D0-4BEF-B72C-8C73AB5C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INDIA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F5E52-9E5A-470B-BE0B-40B497B9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madhumeha type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3441-2D8C-4BE1-B4D0-0BD0B38E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2880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FE719-6265-4708-B0EF-4D151B9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812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USA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5E740-E810-4625-9B6A-699988D4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860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T2DM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EC2971-F6D5-48FC-A52E-F35BAA7A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33875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FC332-EEF7-4AC3-BB6D-FB97616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8627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AUSTRALIA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EEDF4-B7D2-441D-919D-0AD93A38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9107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type 2 DM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94165-0E57-45A8-A7F9-2A849F9E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33875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962F0-774B-4030-994B-7124718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8627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EUROPE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5728D-47AB-4543-8381-06270C0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79107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DM2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80D7E-8631-4F84-90EF-91788E6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81275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2632"/>
          </a:solidFill>
          <a:ln xmlns:a="http://schemas.openxmlformats.org/drawingml/2006/main" w="9525">
            <a:solidFill>
              <a:srgbClr val="1526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2750E-5A7E-4E58-BC0E-18F3419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ED8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ED8D1"/>
                </a:solidFill>
                <a:latin typeface="Calibri"/>
                <a:ea typeface="Calibri"/>
                <a:cs typeface="Calibri"/>
              </a:rPr>
              <a:t>FEDAVG COORDINATOR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A428B3-259D-4D93-A3D8-100BE02A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6230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sample-weighted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FedAvg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60E6BE-C7DA-4E19-99FF-A4AC8D77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8D9D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C8D9DF"/>
                </a:solidFill>
                <a:latin typeface="Calibri"/>
                <a:ea typeface="Calibri"/>
                <a:cs typeface="Calibri"/>
              </a:rPr>
              <a:t>receives tensors + sample counts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23DD9E-F21E-46B0-AC4F-26307135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38800"/>
            <a:ext cx="742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9C5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B55C5C-5516-443F-8D30-8ACC91B5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72150"/>
            <a:ext cx="704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861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86100"/>
                </a:solidFill>
                <a:latin typeface="Calibri"/>
                <a:ea typeface="Calibri"/>
                <a:cs typeface="Calibri"/>
              </a:rPr>
              <a:t>Data locality, not cryptography: model updates may leak information without secure aggregation or differential privacy.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84EC70-DD5F-44AB-9EEB-1FDBF37F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3143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CD4E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D6FB7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D6FB7"/>
                </a:solidFill>
                <a:latin typeface="Calibri"/>
                <a:ea typeface="Calibri"/>
                <a:cs typeface="Calibri"/>
              </a:rPr>
              <a:t>48.05 KiB/client update · 1.88 MiB total / 5 rounds</a:t>
            </a:r>
          </a:p>
        </p:txBody>
      </p:sp>
    </p:spTree>
    <p:extLst>
      <p:ext uri="{BB962C8B-B14F-4D97-AF65-F5344CB8AC3E}">
        <p14:creationId xmlns:p14="http://schemas.microsoft.com/office/powerpoint/2010/main" val="1374685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8DAC8-C90E-40F7-A3DE-DD92FC83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49FE4-9C95-4B9E-B6D4-4427DE5C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FHIR-NATIVE GLOBAL LINKER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2E19C-CEDB-4C04-8168-40E4895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731D1-616F-45D5-8A8D-8E95F76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BBF8A-D96A-4B3C-8B86-F0ACB1A6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637CC-1E52-419A-94C1-8AD7814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700" b="1">
                <a:solidFill>
                  <a:srgbClr val="18242E"/>
                </a:solidFill>
              </a:rPr>
              <a:t>The mapping is an auditable HL7 artifact, not a hidden AI guess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BAFDB-CBE3-4A80-B6E7-71F0CE96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4D021-3313-450C-9C53-B2C7A4D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00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42E"/>
                </a:solidFill>
              </a:defRPr>
            </a:pPr>
            <a:r>
              <a:rPr sz="1425" b="1">
                <a:solidFill>
                  <a:srgbClr val="18242E"/>
                </a:solidFill>
              </a:rPr>
              <a:t>Local CodeSystem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A1269-0E2F-4297-9EE5-45C6A987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95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Represents the site's local phrase or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19F30-DC39-4427-B4B6-7D25276E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CF5E0-18E2-4ED9-8874-2C2D83D7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42E"/>
                </a:solidFill>
              </a:defRPr>
            </a:pPr>
            <a:r>
              <a:rPr sz="1425" b="1">
                <a:solidFill>
                  <a:srgbClr val="18242E"/>
                </a:solidFill>
              </a:rPr>
              <a:t>Target ValueSet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8B877-F5C1-42E5-B539-4CEB9EF0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241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Constrains candidate concepts by clinical category.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A2A5A-C6B4-4CC0-8EBD-B12F8C10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7F77E-F1CC-4906-8CDB-DBB4BA7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42E"/>
                </a:solidFill>
              </a:defRPr>
            </a:pPr>
            <a:r>
              <a:rPr sz="1425" b="1">
                <a:solidFill>
                  <a:srgbClr val="18242E"/>
                </a:solidFill>
              </a:rPr>
              <a:t>FHIR ConceptMap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438A4-42B8-496F-A958-99F3CEA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52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Publishes source-to-target mapping with provenance.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CD45D-F9E5-4099-A80D-DD34108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05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63E16-63BF-4446-AA32-6961815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242E"/>
                </a:solidFill>
              </a:defRPr>
            </a:pPr>
            <a:r>
              <a:rPr sz="1425" b="1">
                <a:solidFill>
                  <a:srgbClr val="18242E"/>
                </a:solidFill>
              </a:rPr>
              <a:t>Terminology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DFD36-94BF-409F-BE03-881A4F82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$translate maps; $lookup resolves; $validate-code checks.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548AC-8FB8-48FE-A3EC-62CD42AB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864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66B00"/>
                </a:solidFill>
              </a:defRPr>
            </a:pPr>
            <a:r>
              <a:rPr sz="1125" b="1">
                <a:solidFill>
                  <a:srgbClr val="B86100"/>
                </a:solidFill>
              </a:rPr>
              <a:t>A valid target code does not prove the semantic mapping is correct. Gold labels, trace review, and clinician adjudication remain required.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EDED0-F981-4078-80E6-A83D1E70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313B9-F806-4E3C-8E26-68E9B321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MAPPING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AEDC8-B33C-4836-9B57-6AE69F8B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C1999-F157-4858-ADB4-26A21642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India local term | madhumeha type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45775-BD2E-4DFE-839D-BA9A970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35B28-E8EF-44F1-AF8C-39BBB210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PREDICTION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8D9BE-E32F-4309-BE12-68F75017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90825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Type 2 diabetes mellitus | confidence 0.94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A84D5-2CAF-4267-9038-96F985E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DFBC61-9066-4989-A7A9-3FA60098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CONCEPTMAP $TRANSLATE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D2C49F-51FA-4883-B1E6-3E672B79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575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SNOMED CT 44054006 | equivalent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EFD86-B700-4A12-B352-B22B1CDD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0D9AF-B10A-48C5-B1C0-21E32D05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$LOOKUP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BBFCE6-0DE0-4DD4-A76E-6881324F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24275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target code exists | display resolved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E1F836-30D2-49AF-8F32-C0B6567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6C20CD-9C2D-4A38-A0D6-83DE685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$VALIDATE-CODE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FF655-B67D-43E4-99D9-7AD36097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member of allowed condition ValueSet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79BDE2-5D4D-4AFB-AB66-BD601CA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C09AAC-6051-40CF-B1AB-BA26375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679F75-AF82-4EDF-89F3-28A3B70C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57725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8B62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28B62"/>
                </a:solidFill>
                <a:latin typeface="Calibri"/>
                <a:ea typeface="Calibri"/>
                <a:cs typeface="Calibri"/>
              </a:rPr>
              <a:t>trusted mapping | reusable local cache entry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4E1E3B-8726-4B33-B5C4-ACB8422A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476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9C58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8610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6100"/>
                </a:solidFill>
                <a:latin typeface="Calibri"/>
                <a:ea typeface="Calibri"/>
                <a:cs typeface="Calibri"/>
              </a:rPr>
              <a:t>confidence &lt; 0.70 -&gt; human review; no code emitted</a:t>
            </a:r>
          </a:p>
        </p:txBody>
      </p:sp>
    </p:spTree>
    <p:extLst>
      <p:ext uri="{BB962C8B-B14F-4D97-AF65-F5344CB8AC3E}">
        <p14:creationId xmlns:p14="http://schemas.microsoft.com/office/powerpoint/2010/main" val="760647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4DB47-85EB-440C-B685-77E21465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F5F28-DBD9-4CE2-A3DF-5D1D3FE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VALIDATION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CD7DF-11D2-4FC1-86A3-4E959D0F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9B50D-602A-418D-8DE2-1ECB97B6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0699-A55D-4E36-BB8A-A219760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7968D-EBB1-432B-9719-542D88A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625" b="1">
                <a:solidFill>
                  <a:srgbClr val="18242E"/>
                </a:solidFill>
              </a:rPr>
              <a:t>All four checked cross-border Bundles passed with zero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E0FBD-01B6-48ED-BC78-AE5A366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4/4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7E089-1D88-4A92-9D67-85474B3D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Validated against FHIR R4 + IPS 2.0.1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E38D9-85EA-4AD0-A158-EF23606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29739-290D-48A5-816F-5489735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A1498-4271-463E-B581-1E0097D5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CFDD2-C819-43F4-A7D7-AE0061DD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warnings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010CC-BDA6-4FD7-986F-918BAAE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66B00"/>
                </a:solidFill>
              </a:defRPr>
            </a:pPr>
            <a:r>
              <a:rPr sz="1125" b="1">
                <a:solidFill>
                  <a:srgbClr val="607283"/>
                </a:solidFill>
              </a:rPr>
              <a:t>Composition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C7C8D-D684-4D48-9327-97CC065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Bundle.type = document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1E69C-D14F-47D7-901E-691BC94B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1030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7283"/>
                </a:solidFill>
              </a:defRPr>
            </a:pPr>
            <a:r>
              <a:rPr sz="1200" b="1">
                <a:solidFill>
                  <a:srgbClr val="18242E"/>
                </a:solidFill>
              </a:rPr>
              <a:t>Validator proof is structural and profile-oriented. Semantic correctness is tested separately against synthetic gold labels and trace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06D16-128A-4306-93C2-7CBB10AA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8105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A008A-CA57-4415-AD02-ADB121C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REPRESENTATIVE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902BF-44B2-4E6C-AFAD-F5A2F312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85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VALIDATOR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9FBE3-EF10-4399-9734-90A811A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859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3B7DA-5182-410B-B340-398F0DB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9800"/>
            <a:ext cx="7296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15663-C505-4CBA-9598-756D542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622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USA -&gt; India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09017-F17F-4911-AEB1-028DB41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622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HL7 FHIR Validator + IPS 2.0.1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F3DA1-2DF7-4216-8506-A5C77277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1333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6EF"/>
          </a:solidFill>
          <a:ln xmlns:a="http://schemas.openxmlformats.org/drawingml/2006/main" w="9525">
            <a:solidFill>
              <a:srgbClr val="B9DFC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8B62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8B62"/>
                </a:solidFill>
                <a:latin typeface="Calibri"/>
                <a:ea typeface="Calibri"/>
                <a:cs typeface="Calibri"/>
              </a:rPr>
              <a:t>0 errors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7A787-C4EF-409E-B80D-A7BAFBC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729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F0421-F275-47A6-86ED-A9661C69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India -&gt; USA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F166D7-9CBB-402A-BA21-853B2469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HL7 FHIR Validator + IPS 2.0.1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88298-44AB-488C-9ED3-BB6A09EC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1333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6EF"/>
          </a:solidFill>
          <a:ln xmlns:a="http://schemas.openxmlformats.org/drawingml/2006/main" w="9525">
            <a:solidFill>
              <a:srgbClr val="B9DFC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8B62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8B62"/>
                </a:solidFill>
                <a:latin typeface="Calibri"/>
                <a:ea typeface="Calibri"/>
                <a:cs typeface="Calibri"/>
              </a:rPr>
              <a:t>0 errors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4C7BE-748F-416B-BE60-439E60E1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90900"/>
            <a:ext cx="729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26C11-90E5-42C3-9B93-0748DC5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433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Australia -&gt; Europe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A8A7E-CE5B-40FC-8F36-5FE92B8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433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HL7 FHIR Validator + IPS 2.0.1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5FFE61-B660-4483-97BF-1231A7C1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1333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6EF"/>
          </a:solidFill>
          <a:ln xmlns:a="http://schemas.openxmlformats.org/drawingml/2006/main" w="9525">
            <a:solidFill>
              <a:srgbClr val="B9DFC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8B62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8B62"/>
                </a:solidFill>
                <a:latin typeface="Calibri"/>
                <a:ea typeface="Calibri"/>
                <a:cs typeface="Calibri"/>
              </a:rPr>
              <a:t>0 errors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AD5C3-474F-4F33-8A81-5795888D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81450"/>
            <a:ext cx="729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70B13-37E9-4104-8DAF-FBB99435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338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Europe -&gt; USA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3DBE8F-5EC7-4777-9169-7A74DFFE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HL7 FHIR Validator + IPS 2.0.1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1406F1-3378-424D-8A58-1E0A0B52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14800"/>
            <a:ext cx="1333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6EF"/>
          </a:solidFill>
          <a:ln xmlns:a="http://schemas.openxmlformats.org/drawingml/2006/main" w="9525">
            <a:solidFill>
              <a:srgbClr val="B9DFCC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8B62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8B62"/>
                </a:solidFill>
                <a:latin typeface="Calibri"/>
                <a:ea typeface="Calibri"/>
                <a:cs typeface="Calibri"/>
              </a:rPr>
              <a:t>0 errors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BAB67A-1CDA-4441-B1FE-150FA0D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38700"/>
            <a:ext cx="7296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9C5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C431D8-8887-4A6A-B815-AE588FA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33950"/>
            <a:ext cx="699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8610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86100"/>
                </a:solidFill>
                <a:latin typeface="Calibri"/>
                <a:ea typeface="Calibri"/>
                <a:cs typeface="Calibri"/>
              </a:rPr>
              <a:t>Claim boundary: validator success is evidence, not production certification or national profile conformance.</a:t>
            </a:r>
          </a:p>
        </p:txBody>
      </p:sp>
    </p:spTree>
    <p:extLst>
      <p:ext uri="{BB962C8B-B14F-4D97-AF65-F5344CB8AC3E}">
        <p14:creationId xmlns:p14="http://schemas.microsoft.com/office/powerpoint/2010/main" val="432975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1EC13-4814-4A89-9D09-7783BA43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D126-A7EA-46B7-91A3-7A4FAA04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DEMONSTRATED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F293B-3A1C-4C7A-A505-A0F6599D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1C95B-2694-4AFE-BFEF-8B850EEF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E6AED-C81B-4B9A-909B-3A15F3F3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D46E4-69B3-4E47-85CF-4A7221E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One IPS Bundle supports four receiver ecosystems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D6B8B-2728-4591-B320-DA8BF1DA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B55"/>
                </a:solidFill>
              </a:defRPr>
            </a:pPr>
            <a:r>
              <a:rPr sz="1350" b="1">
                <a:solidFill>
                  <a:srgbClr val="607283"/>
                </a:solidFill>
              </a:rPr>
              <a:t>Each receiver gets the same machine-readable IPS, a readable PDF, and an explicit list of readiness gaps.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A114B-1BCF-4A66-AFCA-3D7BEC5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07283"/>
                </a:solidFill>
              </a:defRPr>
            </a:pPr>
            <a:r>
              <a:rPr sz="1125" b="1">
                <a:solidFill>
                  <a:srgbClr val="607283"/>
                </a:solidFill>
              </a:rPr>
              <a:t>Readiness checks are informative only: US Core STU9, ABDM R4 draft, AU Core CI, and European Patient Summary ballot materials.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962EF-6F13-470A-BA4D-F4F0526B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0995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1B42A-52D3-466B-A2E1-B319B21D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76800"/>
            <a:ext cx="548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D5B5D-9FEA-49AC-ABBC-3CC1F34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D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0F194-D096-47F0-B5B5-34BF6E01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266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2632"/>
          </a:solidFill>
          <a:ln xmlns:a="http://schemas.openxmlformats.org/drawingml/2006/main" w="9525">
            <a:solidFill>
              <a:srgbClr val="1526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C40C0-43D8-4D54-9EF4-DA5CBE86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FHIR 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C4A5A-66A9-404C-B83A-CD439CE4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FD8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FD8DE"/>
                </a:solidFill>
                <a:latin typeface="Calibri"/>
                <a:ea typeface="Calibri"/>
                <a:cs typeface="Calibri"/>
              </a:rPr>
              <a:t>document Bundle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8E054-408A-4D28-8062-EF755CA0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433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E7E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E7EB"/>
                </a:solidFill>
                <a:latin typeface="Calibri"/>
                <a:ea typeface="Calibri"/>
                <a:cs typeface="Calibri"/>
              </a:rPr>
              <a:t>Composition + coded resources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87A66-7314-4DAF-A9F2-6BA5CD2E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667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366E0-ECCE-4AF7-B5A1-3EC420F9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USA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9F86E-3B6B-4816-8266-66191458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US Core STU9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7352F-559D-4151-8F43-FC2E54A7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race/ethnicity gaps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61CD4-2ABE-4F5F-8C77-B7D981B7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47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PDF rendering + gap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557A6-4C48-46FD-8A6A-253BDAA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667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FA0C3-D85D-466D-9213-C57A2D3D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INDIA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D7D69-947C-4DC9-ACC9-39FE59C5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ABDM R4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93B51-8E60-45E1-A1D9-6C1CCE97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ABHA identifier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1F2E2-73CE-4DA4-9E06-54902828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2047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PDF rendering + gap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D1A85-D805-49AE-B567-E3F23CD4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667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A12F2-B791-4D79-95B1-BA3DCDF0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AUSTRALIA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ED967-2832-47F8-9AD9-ABCDB7C6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AU Core CI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52185-B331-40D2-9069-AE2A73EA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Medicare/IHI gaps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0E2D7-6F01-4FA5-BACE-B8C72B62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2047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PDF rendering + gap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4D0B86-8903-4269-ABEC-E2D44280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2667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55783E-68F1-46C2-A70D-E604C242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862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EUROPE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E3469B-47A5-4868-BE14-2A1454BA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672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EPS ballot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92E6D6-B18B-41ED-90E2-87F16AA6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292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regional identifier gaps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9EC8E-7155-4F2E-A848-EDF6FBD6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57800"/>
            <a:ext cx="2047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75B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75B55"/>
                </a:solidFill>
                <a:latin typeface="Calibri"/>
                <a:ea typeface="Calibri"/>
                <a:cs typeface="Calibri"/>
              </a:rPr>
              <a:t>PDF rendering + gap report</a:t>
            </a:r>
          </a:p>
        </p:txBody>
      </p:sp>
    </p:spTree>
    <p:extLst>
      <p:ext uri="{BB962C8B-B14F-4D97-AF65-F5344CB8AC3E}">
        <p14:creationId xmlns:p14="http://schemas.microsoft.com/office/powerpoint/2010/main" val="1875332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C4B3BD-B2F6-4F3C-82B0-F7DED8E0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FAC79-3C70-42B9-9A6E-DB774E8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WHY THIS IS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D38D4-E35F-4064-B6DE-EF694116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15524-8BAF-4AC0-87DA-F45A811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4F01A-A611-405B-BD10-D1E8C65F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Tech Adaptive Pandit · 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71B9D-5CCE-4BE2-BCE1-1D448128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242E"/>
                </a:solidFill>
              </a:defRPr>
            </a:pPr>
            <a:r>
              <a:rPr sz="2625" b="1">
                <a:solidFill>
                  <a:srgbClr val="18242E"/>
                </a:solidFill>
              </a:rPr>
              <a:t>The AI layer ends in HL7 artifacts, evidence, and review boundaries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19138-2537-498F-8289-634EE58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AA58E-9B58-4FB6-98E0-D8DE8B70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COMMON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B4137-6B43-4E48-AD2B-E6A597C2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OUR JUDGE-VERIFIABLE 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AF1EC-7B3D-4E7B-9104-23070BAD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D0E7C-12D6-4EAE-A190-96BA0ED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LLM directly emits FHIR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62206-E9DD-4A84-AFCB-20E900C0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Registry-first mapping; low confidence stops for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F2E7C-EE8C-4C64-93AA-536C9253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4AFF1-DE09-4A13-9E65-895A1ED7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Mapping hidden in model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BE743-2FF5-4570-997D-FC4F431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FHIR CodeSystem, ValueSet, ConceptMap, and operation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2530A-3139-4A8F-BFBB-5A8FE233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B688A-5B3F-4FD9-857A-85B9BA8E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Data pooled centrally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15C4D-BD90-4397-8F38-A58543CA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Local training + sample-weighted FedAvg; no raw reports sent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D34DE-50B5-4E3E-A3E8-26DC6A3F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51F67-38D4-4146-B619-0516C02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Single destination format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CDCFA-0FC5-43AA-92FB-534F750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One FHIR IPS artifact + four receiver readiness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D8A33-0D64-45CD-859C-CD976D0F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55144-C796-4A25-90B8-013E8B5F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283"/>
                </a:solidFill>
                <a:latin typeface="Calibri"/>
                <a:ea typeface="Calibri"/>
                <a:cs typeface="Calibri"/>
              </a:rPr>
              <a:t>Structure checked once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7F136-EDBC-475B-B318-A90B6B9D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24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42E"/>
                </a:solidFill>
                <a:latin typeface="Calibri"/>
                <a:ea typeface="Calibri"/>
                <a:cs typeface="Calibri"/>
              </a:rPr>
              <a:t>Gold-label semantic tests + official validator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DBC92-EAA5-42BF-A525-256007BD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52632"/>
          </a:solidFill>
          <a:ln xmlns:a="http://schemas.openxmlformats.org/drawingml/2006/main" w="9525">
            <a:solidFill>
              <a:srgbClr val="1526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87A81-56CD-401F-969A-B8F51254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ED8D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ED8D1"/>
                </a:solidFill>
                <a:latin typeface="Calibri"/>
                <a:ea typeface="Calibri"/>
                <a:cs typeface="Calibri"/>
              </a:rPr>
              <a:t>REPRODUCIBLE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CD7D2-8A11-493A-813E-3D30D5AA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150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 tests · 48/48 transfer · 0 validator errors · coordinator payload verified · JSON + evidence pack</a:t>
            </a:r>
          </a:p>
        </p:txBody>
      </p:sp>
    </p:spTree>
    <p:extLst>
      <p:ext uri="{BB962C8B-B14F-4D97-AF65-F5344CB8AC3E}">
        <p14:creationId xmlns:p14="http://schemas.microsoft.com/office/powerpoint/2010/main" val="376785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5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1D3DBB-0F68-4865-8CD8-A5094C8E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E1D6"/>
                </a:solidFill>
              </a:defRPr>
            </a:pPr>
            <a:r>
              <a:rPr sz="1050" b="1">
                <a:solidFill>
                  <a:srgbClr val="9ED8D1"/>
                </a:solidFill>
              </a:rPr>
              <a:t>THE CLOSING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1F84C-C66C-4527-8642-BD8CBE8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The interoperable summary travels.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The learning stays local.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AE7B8-2206-420B-A191-C90CE164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6A62"/>
          </a:solidFill>
          <a:ln xmlns:a="http://schemas.openxmlformats.org/drawingml/2006/main" w="9525">
            <a:solidFill>
              <a:srgbClr val="3B9E9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F1C21-E835-4CE6-AEF7-C51BC3D9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Federated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F8005-35AB-498F-93A2-27AA79A7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F2ED"/>
                </a:solidFill>
              </a:defRPr>
            </a:pPr>
            <a:r>
              <a:rPr sz="1275" b="0">
                <a:solidFill>
                  <a:srgbClr val="D8E7EB"/>
                </a:solidFill>
              </a:rPr>
              <a:t>aligns local clinical phrases without centralizing raw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F62B0-AAC1-424E-9462-D3457BE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6A62"/>
          </a:solidFill>
          <a:ln xmlns:a="http://schemas.openxmlformats.org/drawingml/2006/main" w="9525">
            <a:solidFill>
              <a:srgbClr val="3B9E9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0157B-17DC-413B-9C55-EB44EED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FHIR 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282D9-A2C5-4890-AC11-5DA95E4A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F2ED"/>
                </a:solidFill>
              </a:defRPr>
            </a:pPr>
            <a:r>
              <a:rPr sz="1275" b="0">
                <a:solidFill>
                  <a:srgbClr val="D8E7EB"/>
                </a:solidFill>
              </a:rPr>
              <a:t>publishes auditable CodeSystem, ValueSet, ConceptMap, and validation traces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4FA82-E3F9-4B8E-B1D1-A4B2F0B6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6A62"/>
          </a:solidFill>
          <a:ln xmlns:a="http://schemas.openxmlformats.org/drawingml/2006/main" w="9525">
            <a:solidFill>
              <a:srgbClr val="3B9E9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BC2C8-8732-4D48-A0B9-CC1D60EF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FHIR 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B49CB-1D6C-4659-BCD9-2FD42ECD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F2ED"/>
                </a:solidFill>
              </a:defRPr>
            </a:pPr>
            <a:r>
              <a:rPr sz="1275" b="0">
                <a:solidFill>
                  <a:srgbClr val="D8E7EB"/>
                </a:solidFill>
              </a:rPr>
              <a:t>packages coded facts into a machine-readable cross-border patient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B6FA1-9987-483D-8076-4F60FB25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E1D6"/>
                </a:solidFill>
              </a:defRPr>
            </a:pPr>
            <a:r>
              <a:rPr sz="1050" b="1">
                <a:solidFill>
                  <a:srgbClr val="9ED8D1"/>
                </a:solidFill>
              </a:rPr>
              <a:t>PROPOSED NEXT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55863-51C6-433F-8C26-563947B2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Two hospitals · 500 governed local mentions per site · independent clinician adjudication · live terminology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FDD30-3B44-46A6-A802-8DBFC272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E1D6"/>
                </a:solidFill>
              </a:defRPr>
            </a:pPr>
            <a:r>
              <a:rPr sz="1050" b="0">
                <a:solidFill>
                  <a:srgbClr val="BFD8DE"/>
                </a:solidFill>
              </a:rPr>
              <a:t>Synthetic prototype · readiness checks only · no formal privacy guarantee · no production certification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4889229e74a92"/>
          <a:stretch xmlns:a="http://schemas.openxmlformats.org/drawingml/2006/main"/>
        </p:blipFill>
        <p:spPr>
          <a:xfrm xmlns:a="http://schemas.openxmlformats.org/drawingml/2006/main" flipH="0" flipV="0">
            <a:off x="10839450" y="419100"/>
            <a:ext cx="628650" cy="628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91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2026-07-13T17:19:42.8470000Z</dcterms:created>
  <dcterms:modified xsi:type="dcterms:W3CDTF">2026-07-13T17:19:42.8470000Z</dcterms:modified>
</coreProperties>
</file>