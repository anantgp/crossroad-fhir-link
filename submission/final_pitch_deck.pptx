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310e064ce7f4c45" /><Relationship Type="http://schemas.openxmlformats.org/officeDocument/2006/relationships/extended-properties" Target="/docProps/app.xml" Id="Rea6b4ea45c9b43d5" /><Relationship Type="http://schemas.openxmlformats.org/officeDocument/2006/relationships/officeDocument" Target="/ppt/presentation.xml" Id="R5568affc4f724e2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813e4d0b8964d4e"/>
  </p:sldMasterIdLst>
  <p:notesMasterIdLst>
    <p:notesMasterId xmlns:r="http://schemas.openxmlformats.org/officeDocument/2006/relationships" r:id="Raad9519514554aad"/>
  </p:notesMasterIdLst>
  <p:sldIdLst>
    <p:sldId xmlns:r="http://schemas.openxmlformats.org/officeDocument/2006/relationships" id="256" r:id="Rfa8e9dbca56e4e62"/>
    <p:sldId xmlns:r="http://schemas.openxmlformats.org/officeDocument/2006/relationships" id="257" r:id="Ra5d40fa1a29e4969"/>
    <p:sldId xmlns:r="http://schemas.openxmlformats.org/officeDocument/2006/relationships" id="258" r:id="Rbe4a7d31dc014b87"/>
    <p:sldId xmlns:r="http://schemas.openxmlformats.org/officeDocument/2006/relationships" id="259" r:id="R932162d7f49a4eef"/>
    <p:sldId xmlns:r="http://schemas.openxmlformats.org/officeDocument/2006/relationships" id="260" r:id="R5936f193d9df4911"/>
    <p:sldId xmlns:r="http://schemas.openxmlformats.org/officeDocument/2006/relationships" id="261" r:id="R108aa61e648f46ed"/>
    <p:sldId xmlns:r="http://schemas.openxmlformats.org/officeDocument/2006/relationships" id="262" r:id="R653e87133b414684"/>
    <p:sldId xmlns:r="http://schemas.openxmlformats.org/officeDocument/2006/relationships" id="263" r:id="Ra24fe814fe244c92"/>
    <p:sldId xmlns:r="http://schemas.openxmlformats.org/officeDocument/2006/relationships" id="264" r:id="R1d31ff63b09545ec"/>
    <p:sldId xmlns:r="http://schemas.openxmlformats.org/officeDocument/2006/relationships" id="265" r:id="R6cbb4fdfacb4426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ca3db5e5b6d4d42" /><Relationship Type="http://schemas.openxmlformats.org/officeDocument/2006/relationships/slideMaster" Target="/ppt/slideMasters/slideMaster1.xml" Id="R7813e4d0b8964d4e" /><Relationship Type="http://schemas.openxmlformats.org/officeDocument/2006/relationships/notesMaster" Target="/ppt/notesMasters/notesMaster1.xml" Id="Raad9519514554aad" /><Relationship Type="http://schemas.openxmlformats.org/officeDocument/2006/relationships/presProps" Target="/ppt/presProps.xml" Id="Rb2afc42ccb584733" /><Relationship Type="http://schemas.openxmlformats.org/officeDocument/2006/relationships/tableStyles" Target="/ppt/tableStyles.xml" Id="R7c0be1d1a32549ea" /><Relationship Type="http://schemas.openxmlformats.org/officeDocument/2006/relationships/slide" Target="/ppt/slides/slide1.xml" Id="Rfa8e9dbca56e4e62" /><Relationship Type="http://schemas.openxmlformats.org/officeDocument/2006/relationships/slide" Target="/ppt/slides/slide2.xml" Id="Ra5d40fa1a29e4969" /><Relationship Type="http://schemas.openxmlformats.org/officeDocument/2006/relationships/slide" Target="/ppt/slides/slide3.xml" Id="Rbe4a7d31dc014b87" /><Relationship Type="http://schemas.openxmlformats.org/officeDocument/2006/relationships/slide" Target="/ppt/slides/slide4.xml" Id="R932162d7f49a4eef" /><Relationship Type="http://schemas.openxmlformats.org/officeDocument/2006/relationships/slide" Target="/ppt/slides/slide5.xml" Id="R5936f193d9df4911" /><Relationship Type="http://schemas.openxmlformats.org/officeDocument/2006/relationships/slide" Target="/ppt/slides/slide6.xml" Id="R108aa61e648f46ed" /><Relationship Type="http://schemas.openxmlformats.org/officeDocument/2006/relationships/slide" Target="/ppt/slides/slide7.xml" Id="R653e87133b414684" /><Relationship Type="http://schemas.openxmlformats.org/officeDocument/2006/relationships/slide" Target="/ppt/slides/slide8.xml" Id="Ra24fe814fe244c92" /><Relationship Type="http://schemas.openxmlformats.org/officeDocument/2006/relationships/slide" Target="/ppt/slides/slide9.xml" Id="R1d31ff63b09545ec" /><Relationship Type="http://schemas.openxmlformats.org/officeDocument/2006/relationships/slide" Target="/ppt/slides/slide10.xml" Id="R6cbb4fdfacb4426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4647a4cc70a45f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e3875ac8c404185" /><Relationship Type="http://schemas.openxmlformats.org/officeDocument/2006/relationships/notesMaster" Target="/ppt/notesMasters/notesMaster1.xml" Id="Rb108e8dd9904492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bed819152d242ee" /><Relationship Type="http://schemas.openxmlformats.org/officeDocument/2006/relationships/notesMaster" Target="/ppt/notesMasters/notesMaster1.xml" Id="R1a2c1d21bdef42d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6d324128c7f4c25" /><Relationship Type="http://schemas.openxmlformats.org/officeDocument/2006/relationships/notesMaster" Target="/ppt/notesMasters/notesMaster1.xml" Id="R511efaf5d660446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8091c8a7b4548d3" /><Relationship Type="http://schemas.openxmlformats.org/officeDocument/2006/relationships/notesMaster" Target="/ppt/notesMasters/notesMaster1.xml" Id="R1257604bb9a545a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985ad33d5fc450c" /><Relationship Type="http://schemas.openxmlformats.org/officeDocument/2006/relationships/notesMaster" Target="/ppt/notesMasters/notesMaster1.xml" Id="R59cd16c2e014400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8c918e4fa594835" /><Relationship Type="http://schemas.openxmlformats.org/officeDocument/2006/relationships/notesMaster" Target="/ppt/notesMasters/notesMaster1.xml" Id="R80bfcd6ba9d94b7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0e4a92cbdf64fd7" /><Relationship Type="http://schemas.openxmlformats.org/officeDocument/2006/relationships/notesMaster" Target="/ppt/notesMasters/notesMaster1.xml" Id="Rf718820323324be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d6562adfe9c403c" /><Relationship Type="http://schemas.openxmlformats.org/officeDocument/2006/relationships/notesMaster" Target="/ppt/notesMasters/notesMaster1.xml" Id="R3444922b8fd74ac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f187391dc554b5b" /><Relationship Type="http://schemas.openxmlformats.org/officeDocument/2006/relationships/notesMaster" Target="/ppt/notesMasters/notesMaster1.xml" Id="R33c9c37002f0464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a085fa608c344a2" /><Relationship Type="http://schemas.openxmlformats.org/officeDocument/2006/relationships/notesMaster" Target="/ppt/notesMasters/notesMaster1.xml" Id="Rfdc90502606e42f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5fa7337787444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479075eadf54f2a" /><Relationship Type="http://schemas.openxmlformats.org/officeDocument/2006/relationships/slideLayout" Target="/ppt/slideLayouts/slideLayout1.xml" Id="R666e3d29e2b0492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66e3d29e2b0492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6af12f41f14a7a" /><Relationship Type="http://schemas.openxmlformats.org/officeDocument/2006/relationships/image" Target="/ppt/media/image.jpeg" Id="R25e4c75df29e4caf" /><Relationship Type="http://schemas.openxmlformats.org/officeDocument/2006/relationships/notesSlide" Target="/ppt/notesSlides/notesSlide1.xml" Id="R38973bb046624e4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9eed356d914ea6" /><Relationship Type="http://schemas.openxmlformats.org/officeDocument/2006/relationships/notesSlide" Target="/ppt/notesSlides/notesSlide2.xml" Id="Rf8f7a93fbf96406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5ad24eedbb4a7f" /><Relationship Type="http://schemas.openxmlformats.org/officeDocument/2006/relationships/image" Target="/ppt/media/image.png" Id="Rba6f5ec1b6a24ff5" /><Relationship Type="http://schemas.openxmlformats.org/officeDocument/2006/relationships/image" Target="/ppt/media/image2.png" Id="Rd726dae2efd047bd" /><Relationship Type="http://schemas.openxmlformats.org/officeDocument/2006/relationships/notesSlide" Target="/ppt/notesSlides/notesSlide3.xml" Id="R38e0546de50e4e0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2e30f63ce448ad" /><Relationship Type="http://schemas.openxmlformats.org/officeDocument/2006/relationships/image" Target="/ppt/media/image3.png" Id="R00fcc73925a74ce9" /><Relationship Type="http://schemas.openxmlformats.org/officeDocument/2006/relationships/notesSlide" Target="/ppt/notesSlides/notesSlide4.xml" Id="R3df6345da33d40c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0afc019329428c" /><Relationship Type="http://schemas.openxmlformats.org/officeDocument/2006/relationships/image" Target="/ppt/media/image2.jpeg" Id="Rbe7dd9bce8c44ee4" /><Relationship Type="http://schemas.openxmlformats.org/officeDocument/2006/relationships/notesSlide" Target="/ppt/notesSlides/notesSlide5.xml" Id="R2e8d9127b4614d0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d87d6ebb25409d" /><Relationship Type="http://schemas.openxmlformats.org/officeDocument/2006/relationships/image" Target="/ppt/media/image3.jpeg" Id="R80b828adea4c4f86" /><Relationship Type="http://schemas.openxmlformats.org/officeDocument/2006/relationships/notesSlide" Target="/ppt/notesSlides/notesSlide6.xml" Id="R91a2da7c7f864cd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4e3708b58f48e2" /><Relationship Type="http://schemas.openxmlformats.org/officeDocument/2006/relationships/image" Target="/ppt/media/image4.jpeg" Id="R208549ec34dd4ff2" /><Relationship Type="http://schemas.openxmlformats.org/officeDocument/2006/relationships/notesSlide" Target="/ppt/notesSlides/notesSlide7.xml" Id="R5262053dee614b1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d69d6b28434123" /><Relationship Type="http://schemas.openxmlformats.org/officeDocument/2006/relationships/image" Target="/ppt/media/image4.png" Id="Rb52757cdb3c445f0" /><Relationship Type="http://schemas.openxmlformats.org/officeDocument/2006/relationships/notesSlide" Target="/ppt/notesSlides/notesSlide8.xml" Id="Rc5d5129449b94e0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da2dd612ad47e7" /><Relationship Type="http://schemas.openxmlformats.org/officeDocument/2006/relationships/notesSlide" Target="/ppt/notesSlides/notesSlide9.xml" Id="R07a1c71124dd41e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323b48cab24852" /><Relationship Type="http://schemas.openxmlformats.org/officeDocument/2006/relationships/notesSlide" Target="/ppt/notesSlides/notesSlide10.xml" Id="Rb499b73fe79a4ab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3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AD64134-ACE1-475E-9D60-19DFCEA60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2A6CB6-5826-4DF5-92AE-CD0FEEAD4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HL7 AI CHALLENGE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0FD02D-E784-4A38-8116-001682964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62050"/>
            <a:ext cx="44767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8242E"/>
                </a:solidFill>
              </a:defRPr>
            </a:pPr>
            <a:r>
              <a:rPr sz="4050" b="1">
                <a:solidFill>
                  <a:srgbClr val="18242E"/>
                </a:solidFill>
              </a:rPr>
              <a:t>Cross-Border</a:t>
            </a:r>
          </a:p>
          <a:p xmlns:a="http://schemas.openxmlformats.org/drawingml/2006/main">
            <a:pPr algn="l">
              <a:defRPr sz="4050" b="1">
                <a:solidFill>
                  <a:srgbClr val="18242E"/>
                </a:solidFill>
              </a:defRPr>
            </a:pPr>
            <a:r>
              <a:rPr sz="4050" b="1">
                <a:solidFill>
                  <a:srgbClr val="18242E"/>
                </a:solidFill>
              </a:rPr>
              <a:t>IPS AI Agent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7DD1B8-57B0-4F9E-AE74-4B4966E05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52750"/>
            <a:ext cx="4286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07283"/>
                </a:solidFill>
              </a:defRPr>
            </a:pPr>
            <a:r>
              <a:rPr sz="1725" b="0">
                <a:solidFill>
                  <a:srgbClr val="607283"/>
                </a:solidFill>
              </a:rPr>
              <a:t>Federated, FHIR-native terminology alignment for cross-border Type 2 diabetes summaries.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B57B60-CF1A-4B37-A227-90875D448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76750"/>
            <a:ext cx="409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2B1BAF-62B1-4189-9CC8-6330A2478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95825"/>
            <a:ext cx="428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5B55"/>
                </a:solidFill>
              </a:defRPr>
            </a:pPr>
            <a:r>
              <a:rPr sz="1350" b="1">
                <a:solidFill>
                  <a:srgbClr val="075B55"/>
                </a:solidFill>
              </a:rPr>
              <a:t>FHIR IPS is the interoperable artifact.</a:t>
            </a:r>
          </a:p>
          <a:p xmlns:a="http://schemas.openxmlformats.org/drawingml/2006/main">
            <a:pPr algn="l">
              <a:defRPr sz="1350" b="1">
                <a:solidFill>
                  <a:srgbClr val="075B55"/>
                </a:solidFill>
              </a:defRPr>
            </a:pPr>
            <a:r>
              <a:rPr sz="1350" b="1">
                <a:solidFill>
                  <a:srgbClr val="075B55"/>
                </a:solidFill>
              </a:rPr>
              <a:t>PDFs are human-readable renderings.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DF72B2-9280-4201-B8F3-AC1DC69C0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76250"/>
            <a:ext cx="6191250" cy="5619750"/>
          </a:xfrm>
          <a:prstGeom xmlns:a="http://schemas.openxmlformats.org/drawingml/2006/main" prst="roundRect">
            <a:avLst>
              <a:gd name="adj" fmla="val 13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6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e4c75df29e4caf"/>
          <a:srcRect xmlns:a="http://schemas.openxmlformats.org/drawingml/2006/main" l="11597" t="0" r="1159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05450" y="590550"/>
            <a:ext cx="5962650" cy="5391150"/>
          </a:xfrm>
          <a:prstGeom xmlns:a="http://schemas.openxmlformats.org/drawingml/2006/main" prst="roundRect">
            <a:avLst>
              <a:gd name="adj" fmla="val 1413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92FE1B-3FB9-4B11-8755-0D943FBB8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912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283"/>
                </a:solidFill>
              </a:defRPr>
            </a:pPr>
            <a:r>
              <a:rPr sz="975" b="0">
                <a:solidFill>
                  <a:srgbClr val="607283"/>
                </a:solidFill>
              </a:rPr>
              <a:t>Working demo · synthetic evidence · official IPS 2.0.1 validation</a:t>
            </a:r>
          </a:p>
        </p:txBody>
      </p:sp>
    </p:spTree>
    <p:extLst>
      <p:ext uri="{BB962C8B-B14F-4D97-AF65-F5344CB8AC3E}">
        <p14:creationId xmlns:p14="http://schemas.microsoft.com/office/powerpoint/2010/main" val="1502565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0F00F5F-4C88-478D-BE70-D1017151C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E764E8-11BB-4B0F-96F7-7D0AE8FC5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>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1D47AB-BCDB-4FD2-89B1-D6F6C2D1B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2667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283"/>
                </a:solidFill>
              </a:defRPr>
            </a:pPr>
            <a:r>
              <a:rPr sz="900" b="1">
                <a:solidFill>
                  <a:srgbClr val="607283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633A94-60CA-4836-8A85-BD804B5ED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C1611C-00F5-4FCA-9699-7E7C6C900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81775"/>
            <a:ext cx="628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7283"/>
                </a:solidFill>
              </a:defRPr>
            </a:pPr>
            <a:r>
              <a:rPr sz="750" b="0">
                <a:solidFill>
                  <a:srgbClr val="607283"/>
                </a:solidFill>
              </a:rPr>
              <a:t>Cross-Border IPS AI Agent · HL7 AI Challenge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FACF24-4354-4658-9523-F32689438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0668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242E"/>
                </a:solidFill>
              </a:defRPr>
            </a:pPr>
            <a:r>
              <a:rPr sz="2850" b="1">
                <a:solidFill>
                  <a:srgbClr val="18242E"/>
                </a:solidFill>
              </a:rPr>
              <a:t>One condition arrives under many local names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39C192-7ADA-4671-A410-FA0BC1026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811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07283"/>
                </a:solidFill>
              </a:defRPr>
            </a:pPr>
            <a:r>
              <a:rPr sz="975" b="1">
                <a:solidFill>
                  <a:srgbClr val="607283"/>
                </a:solidFill>
              </a:rPr>
              <a:t>USA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2EC8BF-6043-4714-9BDF-705FA53C2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552575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42E"/>
                </a:solidFill>
              </a:defRPr>
            </a:pPr>
            <a:r>
              <a:rPr sz="1800" b="1">
                <a:solidFill>
                  <a:srgbClr val="18242E"/>
                </a:solidFill>
              </a:rPr>
              <a:t>T2DM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09B331-639A-46C7-BFBC-A659B1000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622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07283"/>
                </a:solidFill>
              </a:defRPr>
            </a:pPr>
            <a:r>
              <a:rPr sz="975" b="1">
                <a:solidFill>
                  <a:srgbClr val="607283"/>
                </a:solidFill>
              </a:rPr>
              <a:t>India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27A0A5-8BAC-4A15-A8B8-8E082E5A7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333625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42E"/>
                </a:solidFill>
              </a:defRPr>
            </a:pPr>
            <a:r>
              <a:rPr sz="1800" b="1">
                <a:solidFill>
                  <a:srgbClr val="18242E"/>
                </a:solidFill>
              </a:rPr>
              <a:t>sugar disease · madhumeha type 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C3DBE5-6127-474E-ADAF-9F1A65442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432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07283"/>
                </a:solidFill>
              </a:defRPr>
            </a:pPr>
            <a:r>
              <a:rPr sz="975" b="1">
                <a:solidFill>
                  <a:srgbClr val="607283"/>
                </a:solidFill>
              </a:rPr>
              <a:t>Australia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DDF3F8-BE38-4FD8-8034-57C805510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114675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42E"/>
                </a:solidFill>
              </a:defRPr>
            </a:pPr>
            <a:r>
              <a:rPr sz="1800" b="1">
                <a:solidFill>
                  <a:srgbClr val="18242E"/>
                </a:solidFill>
              </a:rPr>
              <a:t>type 2 DM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70722D-FCA7-4D8E-ACD3-B159E45AE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243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07283"/>
                </a:solidFill>
              </a:defRPr>
            </a:pPr>
            <a:r>
              <a:rPr sz="975" b="1">
                <a:solidFill>
                  <a:srgbClr val="607283"/>
                </a:solidFill>
              </a:rPr>
              <a:t>Europe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EF459C-4307-4BFF-8590-475AA7C3C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895725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42E"/>
                </a:solidFill>
              </a:defRPr>
            </a:pPr>
            <a:r>
              <a:rPr sz="1800" b="1">
                <a:solidFill>
                  <a:srgbClr val="18242E"/>
                </a:solidFill>
              </a:rPr>
              <a:t>DM2 · diabetes mellitus type II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00B83D-2ED5-41C0-91CE-50F115ECD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714625"/>
            <a:ext cx="76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0F766E"/>
                </a:solidFill>
              </a:defRPr>
            </a:pPr>
            <a:r>
              <a:rPr sz="3600" b="1">
                <a:solidFill>
                  <a:srgbClr val="0F766E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BBD3E4-74DF-4FEC-996E-2735CF34B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57375"/>
            <a:ext cx="447675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E6F4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720600-C29B-4B92-885E-DBDD5553F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2098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Canonical meaning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DB48C7-4128-4906-B0FB-6E481B085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647950"/>
            <a:ext cx="371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242E"/>
                </a:solidFill>
              </a:defRPr>
            </a:pPr>
            <a:r>
              <a:rPr sz="2250" b="1">
                <a:solidFill>
                  <a:srgbClr val="18242E"/>
                </a:solidFill>
              </a:rPr>
              <a:t>Type 2 diabetes mellitus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83E48B-7730-4EE1-B6A8-A84E23D5D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5623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75B55"/>
                </a:solidFill>
              </a:defRPr>
            </a:pPr>
            <a:r>
              <a:rPr sz="1425" b="1">
                <a:solidFill>
                  <a:srgbClr val="075B55"/>
                </a:solidFill>
              </a:rPr>
              <a:t>SNOMED CT 44054006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830609-07A5-42E5-856E-EACA387A6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9433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A9"/>
                </a:solidFill>
              </a:defRPr>
            </a:pPr>
            <a:r>
              <a:rPr sz="1350" b="1">
                <a:solidFill>
                  <a:srgbClr val="2563A9"/>
                </a:solidFill>
              </a:rPr>
              <a:t>ICD-10 E11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6D1AF9-4D02-4DE4-8FEF-E0ABE13A5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19750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42E"/>
                </a:solidFill>
              </a:defRPr>
            </a:pPr>
            <a:r>
              <a:rPr sz="1500" b="1">
                <a:solidFill>
                  <a:srgbClr val="18242E"/>
                </a:solidFill>
              </a:rPr>
              <a:t>Without semantic alignment, a receiver EHR gets ambiguous text instead of computable clinical data.</a:t>
            </a:r>
          </a:p>
        </p:txBody>
      </p:sp>
    </p:spTree>
    <p:extLst>
      <p:ext uri="{BB962C8B-B14F-4D97-AF65-F5344CB8AC3E}">
        <p14:creationId xmlns:p14="http://schemas.microsoft.com/office/powerpoint/2010/main" val="164479693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D174183-5CA7-4EAB-BA99-02FAB5F8F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97CA54-434C-4EC9-91FC-F6A28EEED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>OBJECTIVE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4D7CA0-2073-4DA9-9D30-A78D5A93E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2667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283"/>
                </a:solidFill>
              </a:defRPr>
            </a:pPr>
            <a:r>
              <a:rPr sz="900" b="1">
                <a:solidFill>
                  <a:srgbClr val="607283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B7C73E-3374-4E11-A7C5-FE555904E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C49C97-D1E6-42A7-BD59-5518ECA09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81775"/>
            <a:ext cx="628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7283"/>
                </a:solidFill>
              </a:defRPr>
            </a:pPr>
            <a:r>
              <a:rPr sz="750" b="0">
                <a:solidFill>
                  <a:srgbClr val="607283"/>
                </a:solidFill>
              </a:rPr>
              <a:t>Cross-Border IPS AI Agent · HL7 AI Challenge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12684C-06A9-4C2F-A16E-0791AF023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0668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242E"/>
                </a:solidFill>
              </a:defRPr>
            </a:pPr>
            <a:r>
              <a:rPr sz="2850" b="1">
                <a:solidFill>
                  <a:srgbClr val="18242E"/>
                </a:solidFill>
              </a:rPr>
              <a:t>FHIR IPS is the artifact that crosses the border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6f5ec1b6a24ff5"/>
          <a:stretch xmlns:a="http://schemas.openxmlformats.org/drawingml/2006/main"/>
        </p:blipFill>
        <p:spPr>
          <a:xfrm xmlns:a="http://schemas.openxmlformats.org/drawingml/2006/main">
            <a:off x="666750" y="1843871"/>
            <a:ext cx="2476500" cy="3503634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F13737-08B1-4FDA-9C8A-0F3FAEB97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102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07283"/>
                </a:solidFill>
              </a:defRPr>
            </a:pPr>
            <a:r>
              <a:rPr sz="1200" b="1">
                <a:solidFill>
                  <a:srgbClr val="607283"/>
                </a:solidFill>
              </a:rPr>
              <a:t>Human 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6D1BEB-B1BD-40E3-AAB3-DB1E2913C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143250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0F766E"/>
                </a:solidFill>
              </a:defRPr>
            </a:pPr>
            <a:r>
              <a:rPr sz="3150" b="1">
                <a:solidFill>
                  <a:srgbClr val="0F766E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953583-5AA2-45BB-9E87-86298E9F4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133600"/>
            <a:ext cx="4000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E6F4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584E6D-66D2-48A1-AA04-DFC8659D1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457450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075B55"/>
                </a:solidFill>
              </a:defRPr>
            </a:pPr>
            <a:r>
              <a:rPr sz="2625" b="1">
                <a:solidFill>
                  <a:srgbClr val="075B55"/>
                </a:solidFill>
              </a:rPr>
              <a:t>HL7 FHIR IPS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65F277-C8CD-45AB-BBB1-AA79B7200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162300"/>
            <a:ext cx="2952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42E"/>
                </a:solidFill>
              </a:defRPr>
            </a:pPr>
            <a:r>
              <a:rPr sz="1500" b="1">
                <a:solidFill>
                  <a:srgbClr val="18242E"/>
                </a:solidFill>
              </a:rPr>
              <a:t>Bundle.type = document</a:t>
            </a:r>
          </a:p>
          <a:p xmlns:a="http://schemas.openxmlformats.org/drawingml/2006/main">
            <a:pPr algn="ctr">
              <a:defRPr sz="1500" b="1">
                <a:solidFill>
                  <a:srgbClr val="18242E"/>
                </a:solidFill>
              </a:defRPr>
            </a:pPr>
            <a:r>
              <a:rPr sz="1500" b="1">
                <a:solidFill>
                  <a:srgbClr val="18242E"/>
                </a:solidFill>
              </a:rPr>
              <a:t>Composition first</a:t>
            </a:r>
          </a:p>
          <a:p xmlns:a="http://schemas.openxmlformats.org/drawingml/2006/main">
            <a:pPr algn="ctr">
              <a:defRPr sz="1500" b="1">
                <a:solidFill>
                  <a:srgbClr val="18242E"/>
                </a:solidFill>
              </a:defRPr>
            </a:pPr>
            <a:r>
              <a:rPr sz="1500" b="1">
                <a:solidFill>
                  <a:srgbClr val="18242E"/>
                </a:solidFill>
              </a:rPr>
              <a:t>Coded clinical resources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2AA0D0-334A-4302-A174-00411AB54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43250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0F766E"/>
                </a:solidFill>
              </a:defRPr>
            </a:pPr>
            <a:r>
              <a:rPr sz="3150" b="1">
                <a:solidFill>
                  <a:srgbClr val="0F766E"/>
                </a:solidFill>
              </a:rPr>
              <a:t>→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26dae2efd047bd"/>
          <a:stretch xmlns:a="http://schemas.openxmlformats.org/drawingml/2006/main"/>
        </p:blipFill>
        <p:spPr>
          <a:xfrm xmlns:a="http://schemas.openxmlformats.org/drawingml/2006/main">
            <a:off x="9029700" y="1843871"/>
            <a:ext cx="2476500" cy="3503634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804A2D-DEC6-4685-9F5F-7E3964F86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8102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07283"/>
                </a:solidFill>
              </a:defRPr>
            </a:pPr>
            <a:r>
              <a:rPr sz="1200" b="1">
                <a:solidFill>
                  <a:srgbClr val="607283"/>
                </a:solidFill>
              </a:rPr>
              <a:t>Human receiver view</a:t>
            </a:r>
          </a:p>
        </p:txBody>
      </p:sp>
    </p:spTree>
    <p:extLst>
      <p:ext uri="{BB962C8B-B14F-4D97-AF65-F5344CB8AC3E}">
        <p14:creationId xmlns:p14="http://schemas.microsoft.com/office/powerpoint/2010/main" val="120912314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4527913-D583-4766-B8FD-A13D86A5E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8A2DE2-8F91-43FD-A6AA-184791563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>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EE78FB-356E-4398-8959-8A20B0AE1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2667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283"/>
                </a:solidFill>
              </a:defRPr>
            </a:pPr>
            <a:r>
              <a:rPr sz="900" b="1">
                <a:solidFill>
                  <a:srgbClr val="607283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D0058D-8571-42F6-9BF0-703C76D93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A26E23-4773-4DE3-950E-986D50C52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81775"/>
            <a:ext cx="628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7283"/>
                </a:solidFill>
              </a:defRPr>
            </a:pPr>
            <a:r>
              <a:rPr sz="750" b="0">
                <a:solidFill>
                  <a:srgbClr val="607283"/>
                </a:solidFill>
              </a:rPr>
              <a:t>Cross-Border IPS AI Agent · HL7 AI Challenge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FBE3C5-F2D5-4825-A3B5-95FA6DC60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0668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242E"/>
                </a:solidFill>
              </a:defRPr>
            </a:pPr>
            <a:r>
              <a:rPr sz="2850" b="1">
                <a:solidFill>
                  <a:srgbClr val="18242E"/>
                </a:solidFill>
              </a:rPr>
              <a:t>Every transformation remains inspectable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0F3A31-2F84-4212-8741-755F697C7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283"/>
                </a:solidFill>
              </a:defRPr>
            </a:pPr>
            <a:r>
              <a:rPr sz="1275" b="0">
                <a:solidFill>
                  <a:srgbClr val="607283"/>
                </a:solidFill>
              </a:rPr>
              <a:t>The registry is deterministic; the federated linker is used only on misses; FHIR terminology validates and publishes the mapping.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fcc73925a74ce9"/>
          <a:stretch xmlns:a="http://schemas.openxmlformats.org/drawingml/2006/main"/>
        </p:blipFill>
        <p:spPr>
          <a:xfrm xmlns:a="http://schemas.openxmlformats.org/drawingml/2006/main">
            <a:off x="2625498" y="1657350"/>
            <a:ext cx="6874329" cy="4572000"/>
          </a:xfrm>
          <a:prstGeom xmlns:a="http://schemas.openxmlformats.org/drawingml/2006/main" prst="roundRect">
            <a:avLst>
              <a:gd name="adj" fmla="val 1667"/>
            </a:avLst>
          </a:prstGeom>
        </p:spPr>
      </p:pic>
    </p:spTree>
    <p:extLst>
      <p:ext uri="{BB962C8B-B14F-4D97-AF65-F5344CB8AC3E}">
        <p14:creationId xmlns:p14="http://schemas.microsoft.com/office/powerpoint/2010/main" val="79533799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E91F038-991B-4838-BB59-6ABE862C8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778D49-870D-4CC0-8C3A-80C663065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>FEDERATED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CF5B33-E2A7-4801-BA90-2AB9F8F66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2667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283"/>
                </a:solidFill>
              </a:defRPr>
            </a:pPr>
            <a:r>
              <a:rPr sz="900" b="1">
                <a:solidFill>
                  <a:srgbClr val="607283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24E5F1-6ED6-40B3-81D7-73694FF08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B635B7-4159-4842-B67F-070D605FE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81775"/>
            <a:ext cx="628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7283"/>
                </a:solidFill>
              </a:defRPr>
            </a:pPr>
            <a:r>
              <a:rPr sz="750" b="0">
                <a:solidFill>
                  <a:srgbClr val="607283"/>
                </a:solidFill>
              </a:rPr>
              <a:t>Cross-Border IPS AI Agent · HL7 AI Challenge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BA1791-F694-45FB-A545-7A6167183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0668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242E"/>
                </a:solidFill>
              </a:defRPr>
            </a:pPr>
            <a:r>
              <a:rPr sz="2850" b="1">
                <a:solidFill>
                  <a:srgbClr val="18242E"/>
                </a:solidFill>
              </a:rPr>
              <a:t>Five seeds reproduce the cross-site gain without moving reports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4BE909-5911-4C6D-8B8A-9B754AAED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95450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7865C"/>
                </a:solidFill>
              </a:defRPr>
            </a:pPr>
            <a:r>
              <a:rPr sz="3150" b="1">
                <a:solidFill>
                  <a:srgbClr val="27865C"/>
                </a:solidFill>
              </a:rPr>
              <a:t>48/48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396E68-0654-4BEC-A879-4E87969AD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47900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283"/>
                </a:solidFill>
              </a:defRPr>
            </a:pPr>
            <a:r>
              <a:rPr sz="1125" b="0">
                <a:solidFill>
                  <a:srgbClr val="607283"/>
                </a:solidFill>
              </a:rPr>
              <a:t>federated transfer at all 5 seeds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5411CB-6924-4777-A1FA-FCB0BA33E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76550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8242E"/>
                </a:solidFill>
              </a:defRPr>
            </a:pPr>
            <a:r>
              <a:rPr sz="3150" b="1">
                <a:solidFill>
                  <a:srgbClr val="18242E"/>
                </a:solidFill>
              </a:rPr>
              <a:t>47/48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F66FDE-E50B-4074-A6E6-94A55F6EC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0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283"/>
                </a:solidFill>
              </a:defRPr>
            </a:pPr>
            <a:r>
              <a:rPr sz="1125" b="0">
                <a:solidFill>
                  <a:srgbClr val="607283"/>
                </a:solidFill>
              </a:rPr>
              <a:t>local-only transfer at all 5 seeds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BED3C6-5552-426E-8F2A-26983349F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57650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F766E"/>
                </a:solidFill>
              </a:defRPr>
            </a:pPr>
            <a:r>
              <a:rPr sz="3150" b="1">
                <a:solidFill>
                  <a:srgbClr val="0F766E"/>
                </a:solidFill>
              </a:rPr>
              <a:t>+1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ED3933-32F8-41FD-A2D6-38ADE929A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10100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283"/>
                </a:solidFill>
              </a:defRPr>
            </a:pPr>
            <a:r>
              <a:rPr sz="1125" b="0">
                <a:solidFill>
                  <a:srgbClr val="607283"/>
                </a:solidFill>
              </a:rPr>
              <a:t>measured gain per seed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DAEEE8-FF95-4139-A174-EC962A4C5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5780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42E"/>
                </a:solidFill>
              </a:defRPr>
            </a:pPr>
            <a:r>
              <a:rPr sz="1200" b="1">
                <a:solidFill>
                  <a:srgbClr val="18242E"/>
                </a:solidFill>
              </a:rPr>
              <a:t>20/20 receiver-seed checks were non-regressive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ABBD13-020F-4A1E-AFD3-0D04BBB21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5310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66B00"/>
                </a:solidFill>
              </a:defRPr>
            </a:pPr>
            <a:r>
              <a:rPr sz="975" b="1">
                <a:solidFill>
                  <a:srgbClr val="B66B00"/>
                </a:solidFill>
              </a:rPr>
              <a:t>1.88 MiB five-round tensor traffic. Synthetic study; not clinical accuracy.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E70639-6E89-4EFB-B1F7-0455A6215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504950"/>
            <a:ext cx="7410450" cy="4619625"/>
          </a:xfrm>
          <a:prstGeom xmlns:a="http://schemas.openxmlformats.org/drawingml/2006/main" prst="roundRect">
            <a:avLst>
              <a:gd name="adj" fmla="val 16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6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7dd9bce8c44ee4"/>
          <a:stretch xmlns:a="http://schemas.openxmlformats.org/drawingml/2006/main"/>
        </p:blipFill>
        <p:spPr>
          <a:xfrm xmlns:a="http://schemas.openxmlformats.org/drawingml/2006/main">
            <a:off x="6073004" y="1619250"/>
            <a:ext cx="3379743" cy="4391025"/>
          </a:xfrm>
          <a:prstGeom xmlns:a="http://schemas.openxmlformats.org/drawingml/2006/main" prst="roundRect">
            <a:avLst>
              <a:gd name="adj" fmla="val 1735"/>
            </a:avLst>
          </a:prstGeom>
        </p:spPr>
      </p:pic>
    </p:spTree>
    <p:extLst>
      <p:ext uri="{BB962C8B-B14F-4D97-AF65-F5344CB8AC3E}">
        <p14:creationId xmlns:p14="http://schemas.microsoft.com/office/powerpoint/2010/main" val="137468580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A88DAC8-C90E-40F7-A3DE-DD92FC834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B49FE4-9C95-4B9E-B6D4-4427DE5CF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>FHIR-NATIVE LINKER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42E19C-CEDB-4C04-8168-40E4895A8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2667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283"/>
                </a:solidFill>
              </a:defRPr>
            </a:pPr>
            <a:r>
              <a:rPr sz="900" b="1">
                <a:solidFill>
                  <a:srgbClr val="607283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E731D1-616F-45D5-8A8D-8E95F765B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9BBF8A-D96A-4B3C-8B86-F0ACB1A6B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81775"/>
            <a:ext cx="628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7283"/>
                </a:solidFill>
              </a:defRPr>
            </a:pPr>
            <a:r>
              <a:rPr sz="750" b="0">
                <a:solidFill>
                  <a:srgbClr val="607283"/>
                </a:solidFill>
              </a:rPr>
              <a:t>Cross-Border IPS AI Agent · HL7 AI Challenge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0637CC-1E52-419A-94C1-8AD7814A9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0668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242E"/>
                </a:solidFill>
              </a:defRPr>
            </a:pPr>
            <a:r>
              <a:rPr sz="2850" b="1">
                <a:solidFill>
                  <a:srgbClr val="18242E"/>
                </a:solidFill>
              </a:rPr>
              <a:t>FHIR turns an AI prediction into an auditable mapping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98F2C1-67D6-4213-8413-67D3140FD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7239000" cy="4714875"/>
          </a:xfrm>
          <a:prstGeom xmlns:a="http://schemas.openxmlformats.org/drawingml/2006/main" prst="roundRect">
            <a:avLst>
              <a:gd name="adj" fmla="val 16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6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b828adea4c4f86"/>
          <a:stretch xmlns:a="http://schemas.openxmlformats.org/drawingml/2006/main"/>
        </p:blipFill>
        <p:spPr>
          <a:xfrm xmlns:a="http://schemas.openxmlformats.org/drawingml/2006/main">
            <a:off x="697554" y="1543050"/>
            <a:ext cx="6872591" cy="4486275"/>
          </a:xfrm>
          <a:prstGeom xmlns:a="http://schemas.openxmlformats.org/drawingml/2006/main" prst="roundRect">
            <a:avLst>
              <a:gd name="adj" fmla="val 1699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6BAFDB-CBE3-4A80-B6E7-71F0CE967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6192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44D021-3313-450C-9C53-B2C7A4D84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6002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42E"/>
                </a:solidFill>
              </a:defRPr>
            </a:pPr>
            <a:r>
              <a:rPr sz="1425" b="1">
                <a:solidFill>
                  <a:srgbClr val="18242E"/>
                </a:solidFill>
              </a:rPr>
              <a:t>CodeSystem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0A1269-0E2F-4297-9EE5-45C6A9877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89547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283"/>
                </a:solidFill>
              </a:defRPr>
            </a:pPr>
            <a:r>
              <a:rPr sz="1125" b="0">
                <a:solidFill>
                  <a:srgbClr val="607283"/>
                </a:solidFill>
              </a:rPr>
              <a:t>represents local site terms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F19F30-DC39-4427-B4B6-7D25276EB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6479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8CF5E0-18E2-4ED9-8874-2C2D83D74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6289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42E"/>
                </a:solidFill>
              </a:defRPr>
            </a:pPr>
            <a:r>
              <a:rPr sz="1425" b="1">
                <a:solidFill>
                  <a:srgbClr val="18242E"/>
                </a:solidFill>
              </a:rPr>
              <a:t>ValueSet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28B877-F5C1-42E5-B539-4CEB9EF0D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92417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283"/>
                </a:solidFill>
              </a:defRPr>
            </a:pPr>
            <a:r>
              <a:rPr sz="1125" b="0">
                <a:solidFill>
                  <a:srgbClr val="607283"/>
                </a:solidFill>
              </a:rPr>
              <a:t>constrains allowed targets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7A2A5A-C6B4-4CC0-8EBD-B12F8C10F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6766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47F77E-F1CC-4906-8CDB-DBB4BA73F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6576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42E"/>
                </a:solidFill>
              </a:defRPr>
            </a:pPr>
            <a:r>
              <a:rPr sz="1425" b="1">
                <a:solidFill>
                  <a:srgbClr val="18242E"/>
                </a:solidFill>
              </a:rPr>
              <a:t>ConceptMap + local $translate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2438A4-42B8-496F-A958-99F3CEABA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95287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283"/>
                </a:solidFill>
              </a:defRPr>
            </a:pPr>
            <a:r>
              <a:rPr sz="1125" b="0">
                <a:solidFill>
                  <a:srgbClr val="607283"/>
                </a:solidFill>
              </a:rPr>
              <a:t>publishes local → standard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DCD45D-F9E5-4099-A80D-DD3410815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7053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763E16-63BF-4446-AA32-696181584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686300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42E"/>
                </a:solidFill>
              </a:defRPr>
            </a:pPr>
            <a:r>
              <a:rPr sz="1200" b="1">
                <a:solidFill>
                  <a:srgbClr val="18242E"/>
                </a:solidFill>
              </a:rPr>
              <a:t>External $lookup / $validate-code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FDFD36-94BF-409F-BE03-881A4F822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1816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283"/>
                </a:solidFill>
              </a:defRPr>
            </a:pPr>
            <a:r>
              <a:rPr sz="1125" b="0">
                <a:solidFill>
                  <a:srgbClr val="607283"/>
                </a:solidFill>
              </a:rPr>
              <a:t>tx.fhir.org accepted 4/4 representative codes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E548AC-8FB8-48FE-A3EC-62CD42ABD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686425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66B00"/>
                </a:solidFill>
              </a:defRPr>
            </a:pPr>
            <a:r>
              <a:rPr sz="1050" b="1">
                <a:solidFill>
                  <a:srgbClr val="B66B00"/>
                </a:solidFill>
              </a:rPr>
              <a:t>External code validity does not prove phrase mapping; low confidence → human review</a:t>
            </a:r>
          </a:p>
        </p:txBody>
      </p:sp>
    </p:spTree>
    <p:extLst>
      <p:ext uri="{BB962C8B-B14F-4D97-AF65-F5344CB8AC3E}">
        <p14:creationId xmlns:p14="http://schemas.microsoft.com/office/powerpoint/2010/main" val="76064759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494DB47-85EB-440C-B685-77E21465E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0F5F28-DBD9-4CE2-A3DF-5D1D3FE38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>VALIDATION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0CD7DF-11D2-4FC1-86A3-4E959D0F8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2667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283"/>
                </a:solidFill>
              </a:defRPr>
            </a:pPr>
            <a:r>
              <a:rPr sz="900" b="1">
                <a:solidFill>
                  <a:srgbClr val="607283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89B50D-602A-418D-8DE2-1ECB97B67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FB0699-A55D-4E36-BB8A-A21976096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81775"/>
            <a:ext cx="628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7283"/>
                </a:solidFill>
              </a:defRPr>
            </a:pPr>
            <a:r>
              <a:rPr sz="750" b="0">
                <a:solidFill>
                  <a:srgbClr val="607283"/>
                </a:solidFill>
              </a:rPr>
              <a:t>Cross-Border IPS AI Agent · HL7 AI Challenge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87968D-EBB1-432B-9719-542D88A4C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0668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242E"/>
                </a:solidFill>
              </a:defRPr>
            </a:pPr>
            <a:r>
              <a:rPr sz="2850" b="1">
                <a:solidFill>
                  <a:srgbClr val="18242E"/>
                </a:solidFill>
              </a:rPr>
              <a:t>All four exchange Bundles pass the IPS 2.0.1 profile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DE0FBD-01B6-48ED-BC78-AE5A3664F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7865C"/>
                </a:solidFill>
              </a:defRPr>
            </a:pPr>
            <a:r>
              <a:rPr sz="3150" b="1">
                <a:solidFill>
                  <a:srgbClr val="27865C"/>
                </a:solidFill>
              </a:rPr>
              <a:t>4/4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37E089-1D88-4A92-9D67-85474B3D0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622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283"/>
                </a:solidFill>
              </a:defRPr>
            </a:pPr>
            <a:r>
              <a:rPr sz="1125" b="0">
                <a:solidFill>
                  <a:srgbClr val="607283"/>
                </a:solidFill>
              </a:rPr>
              <a:t>current route Bundles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AE38D9-85EA-4AD0-A158-EF2360692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051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7865C"/>
                </a:solidFill>
              </a:defRPr>
            </a:pPr>
            <a:r>
              <a:rPr sz="3150" b="1">
                <a:solidFill>
                  <a:srgbClr val="27865C"/>
                </a:solidFill>
              </a:rPr>
              <a:t>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629739-290D-48A5-816F-5489735B0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283"/>
                </a:solidFill>
              </a:defRPr>
            </a:pPr>
            <a:r>
              <a:rPr sz="1125" b="0">
                <a:solidFill>
                  <a:srgbClr val="607283"/>
                </a:solidFill>
              </a:rPr>
              <a:t>errors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8A1498-4271-463E-B581-1E0097D54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005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7865C"/>
                </a:solidFill>
              </a:defRPr>
            </a:pPr>
            <a:r>
              <a:rPr sz="3150" b="1">
                <a:solidFill>
                  <a:srgbClr val="27865C"/>
                </a:solidFill>
              </a:rPr>
              <a:t>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3CFDD2-C819-43F4-A7D7-AE0061DD7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283"/>
                </a:solidFill>
              </a:defRPr>
            </a:pPr>
            <a:r>
              <a:rPr sz="1125" b="0">
                <a:solidFill>
                  <a:srgbClr val="607283"/>
                </a:solidFill>
              </a:rPr>
              <a:t>warnings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2010CC-BDA6-4FD7-986F-918BAAEB6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721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66B00"/>
                </a:solidFill>
              </a:defRPr>
            </a:pPr>
            <a:r>
              <a:rPr sz="1275" b="1">
                <a:solidFill>
                  <a:srgbClr val="B66B00"/>
                </a:solidFill>
              </a:rPr>
              <a:t>2 information notes per Bundle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0C7C8D-D684-4D48-9327-97CC0653D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67400"/>
            <a:ext cx="304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283"/>
                </a:solidFill>
              </a:defRPr>
            </a:pPr>
            <a:r>
              <a:rPr sz="975" b="0">
                <a:solidFill>
                  <a:srgbClr val="607283"/>
                </a:solidFill>
              </a:rPr>
              <a:t>RxNorm ingredient codes are outside the IPS guide's recommended medication ValueSet.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F6676D-B5D3-42EB-91E8-EDF62238D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428750"/>
            <a:ext cx="7639050" cy="4857750"/>
          </a:xfrm>
          <a:prstGeom xmlns:a="http://schemas.openxmlformats.org/drawingml/2006/main" prst="roundRect">
            <a:avLst>
              <a:gd name="adj" fmla="val 15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6"/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8549ec34dd4ff2"/>
          <a:stretch xmlns:a="http://schemas.openxmlformats.org/drawingml/2006/main"/>
        </p:blipFill>
        <p:spPr>
          <a:xfrm xmlns:a="http://schemas.openxmlformats.org/drawingml/2006/main">
            <a:off x="4247567" y="1543050"/>
            <a:ext cx="6802016" cy="4629150"/>
          </a:xfrm>
          <a:prstGeom xmlns:a="http://schemas.openxmlformats.org/drawingml/2006/main" prst="roundRect">
            <a:avLst>
              <a:gd name="adj" fmla="val 1646"/>
            </a:avLst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51E69C-D14F-47D7-901E-691BC94BD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210300"/>
            <a:ext cx="695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07283"/>
                </a:solidFill>
              </a:defRPr>
            </a:pPr>
            <a:r>
              <a:rPr sz="900" b="1">
                <a:solidFill>
                  <a:srgbClr val="607283"/>
                </a:solidFill>
              </a:rPr>
              <a:t>Structural/profile conformance for synthetic Bundles; not clinical or national certification.</a:t>
            </a:r>
          </a:p>
        </p:txBody>
      </p:sp>
    </p:spTree>
    <p:extLst>
      <p:ext uri="{BB962C8B-B14F-4D97-AF65-F5344CB8AC3E}">
        <p14:creationId xmlns:p14="http://schemas.microsoft.com/office/powerpoint/2010/main" val="43297505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661EC13-4814-4A89-9D09-7783BA434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80D126-A7EA-46B7-91A3-7A4FAA04F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>CROSS-BORDER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8F293B-3A1C-4C7A-A505-A0F6599D2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2667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283"/>
                </a:solidFill>
              </a:defRPr>
            </a:pPr>
            <a:r>
              <a:rPr sz="900" b="1">
                <a:solidFill>
                  <a:srgbClr val="607283"/>
                </a:solidFill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B1C95B-2694-4AFE-BFEF-8B850EEFA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0E6AED-C81B-4B9A-909B-3A15F3F31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81775"/>
            <a:ext cx="628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7283"/>
                </a:solidFill>
              </a:defRPr>
            </a:pPr>
            <a:r>
              <a:rPr sz="750" b="0">
                <a:solidFill>
                  <a:srgbClr val="607283"/>
                </a:solidFill>
              </a:rPr>
              <a:t>Cross-Border IPS AI Agent · HL7 AI Challenge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1D46E4-69B3-4E47-85CF-4A7221EC7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0668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242E"/>
                </a:solidFill>
              </a:defRPr>
            </a:pPr>
            <a:r>
              <a:rPr sz="2850" b="1">
                <a:solidFill>
                  <a:srgbClr val="18242E"/>
                </a:solidFill>
              </a:rPr>
              <a:t>One machine-readable summary supports four receiver journeys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5D6B8B-2728-4591-B320-DA8BF1DA4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5B55"/>
                </a:solidFill>
              </a:defRPr>
            </a:pPr>
            <a:r>
              <a:rPr sz="1350" b="1">
                <a:solidFill>
                  <a:srgbClr val="075B55"/>
                </a:solidFill>
              </a:rPr>
              <a:t>USA → India · India → USA · Australia → Europe · Europe → USA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2757cdb3c445f0"/>
          <a:stretch xmlns:a="http://schemas.openxmlformats.org/drawingml/2006/main"/>
        </p:blipFill>
        <p:spPr>
          <a:xfrm xmlns:a="http://schemas.openxmlformats.org/drawingml/2006/main">
            <a:off x="2855686" y="1600200"/>
            <a:ext cx="6480629" cy="4476750"/>
          </a:xfrm>
          <a:prstGeom xmlns:a="http://schemas.openxmlformats.org/drawingml/2006/main" prst="roundRect">
            <a:avLst>
              <a:gd name="adj" fmla="val 1702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1A114B-1BCF-4A66-AFCA-3D7BEC523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1505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07283"/>
                </a:solidFill>
              </a:defRPr>
            </a:pPr>
            <a:r>
              <a:rPr sz="1125" b="1">
                <a:solidFill>
                  <a:srgbClr val="607283"/>
                </a:solidFill>
              </a:rPr>
              <a:t>The PDFs are readable renderings. The FHIR IPS Bundle remains the system-facing source of truth.</a:t>
            </a:r>
          </a:p>
        </p:txBody>
      </p:sp>
    </p:spTree>
    <p:extLst>
      <p:ext uri="{BB962C8B-B14F-4D97-AF65-F5344CB8AC3E}">
        <p14:creationId xmlns:p14="http://schemas.microsoft.com/office/powerpoint/2010/main" val="187533253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1C4B3BD-B2F6-4F3C-82B0-F7DED8E0D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0FAC79-3C70-42B9-9A6E-DB774E838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>REPRODUCIBILITY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DD38D4-E35F-4064-B6DE-EF694116A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2667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283"/>
                </a:solidFill>
              </a:defRPr>
            </a:pPr>
            <a:r>
              <a:rPr sz="900" b="1">
                <a:solidFill>
                  <a:srgbClr val="607283"/>
                </a:solidFill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C15524-8BAF-4AC0-87DA-F45A81161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14F01A-A611-405B-BD10-D1E8C65F4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81775"/>
            <a:ext cx="628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7283"/>
                </a:solidFill>
              </a:defRPr>
            </a:pPr>
            <a:r>
              <a:rPr sz="750" b="0">
                <a:solidFill>
                  <a:srgbClr val="607283"/>
                </a:solidFill>
              </a:rPr>
              <a:t>Cross-Border IPS AI Agent · HL7 AI Challenge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271B9D-5CCE-4BE2-BCE1-1D4481282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0668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242E"/>
                </a:solidFill>
              </a:defRPr>
            </a:pPr>
            <a:r>
              <a:rPr sz="2850" b="1">
                <a:solidFill>
                  <a:srgbClr val="18242E"/>
                </a:solidFill>
              </a:rPr>
              <a:t>The evidence is executable, downloadable, and reviewable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8CFE37-80E2-41E4-B8B0-A60F2DEAA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145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7865C"/>
                </a:solidFill>
              </a:defRPr>
            </a:pPr>
            <a:r>
              <a:rPr sz="3150" b="1">
                <a:solidFill>
                  <a:srgbClr val="27865C"/>
                </a:solidFill>
              </a:rPr>
              <a:t>16/16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54D6D9-E294-4D9F-8E55-98665164F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6695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283"/>
                </a:solidFill>
              </a:defRPr>
            </a:pPr>
            <a:r>
              <a:rPr sz="1125" b="0">
                <a:solidFill>
                  <a:srgbClr val="607283"/>
                </a:solidFill>
              </a:rPr>
              <a:t>frontend behavior and evidence tests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ABA060-393F-4972-A130-8F40CE23E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099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7865C"/>
                </a:solidFill>
              </a:defRPr>
            </a:pPr>
            <a:r>
              <a:rPr sz="3150" b="1">
                <a:solidFill>
                  <a:srgbClr val="27865C"/>
                </a:solidFill>
              </a:rPr>
              <a:t>13/13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71C638-552B-4F78-B99E-0A597350A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6235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283"/>
                </a:solidFill>
              </a:defRPr>
            </a:pPr>
            <a:r>
              <a:rPr sz="1125" b="0">
                <a:solidFill>
                  <a:srgbClr val="607283"/>
                </a:solidFill>
              </a:rPr>
              <a:t>Python pipeline and FedAvg tests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8BDB5F-68A0-47B2-AB9F-AF83C76BA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053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7865C"/>
                </a:solidFill>
              </a:defRPr>
            </a:pPr>
            <a:r>
              <a:rPr sz="3150" b="1">
                <a:solidFill>
                  <a:srgbClr val="27865C"/>
                </a:solidFill>
              </a:rPr>
              <a:t>16/16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48785E-0C4F-4337-A1C0-2C0E4EFDD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5775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283"/>
                </a:solidFill>
              </a:defRPr>
            </a:pPr>
            <a:r>
              <a:rPr sz="1125" b="0">
                <a:solidFill>
                  <a:srgbClr val="607283"/>
                </a:solidFill>
              </a:rPr>
              <a:t>route downloads click-tested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20D868-D6C5-4888-ABE4-971DA8039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562100"/>
            <a:ext cx="7067550" cy="4286250"/>
          </a:xfrm>
          <a:prstGeom xmlns:a="http://schemas.openxmlformats.org/drawingml/2006/main" prst="roundRect">
            <a:avLst>
              <a:gd name="adj" fmla="val 1778"/>
            </a:avLst>
          </a:prstGeom>
          <a:solidFill xmlns:a="http://schemas.openxmlformats.org/drawingml/2006/main">
            <a:srgbClr val="18242E"/>
          </a:solidFill>
          <a:ln xmlns:a="http://schemas.openxmlformats.org/drawingml/2006/main" w="9525">
            <a:solidFill>
              <a:srgbClr val="18242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44C46B-23F0-4766-9754-DDE1FACD8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847850"/>
            <a:ext cx="62865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DF7EC"/>
                </a:solidFill>
              </a:defRPr>
            </a:pPr>
            <a:r>
              <a:rPr sz="1425" b="0">
                <a:solidFill>
                  <a:srgbClr val="DDF7EC"/>
                </a:solidFill>
              </a:rPr>
              <a:t>$ npm test -- --run</a:t>
            </a:r>
          </a:p>
          <a:p xmlns:a="http://schemas.openxmlformats.org/drawingml/2006/main">
            <a:pPr algn="l">
              <a:defRPr sz="1425" b="0">
                <a:solidFill>
                  <a:srgbClr val="DDF7EC"/>
                </a:solidFill>
              </a:defRPr>
            </a:pPr>
            <a:r>
              <a:rPr sz="1425" b="0">
                <a:solidFill>
                  <a:srgbClr val="DDF7EC"/>
                </a:solidFill>
              </a:rPr>
              <a:t>✓ 16 tests passed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DDF7EC"/>
                </a:solidFill>
              </a:defRPr>
            </a:pPr>
            <a:r>
              <a:rPr sz="1425" b="0">
                <a:solidFill>
                  <a:srgbClr val="DDF7EC"/>
                </a:solidFill>
              </a:rPr>
              <a:t>$ PYTHONPATH=src pytest -q</a:t>
            </a:r>
          </a:p>
          <a:p xmlns:a="http://schemas.openxmlformats.org/drawingml/2006/main">
            <a:pPr algn="l">
              <a:defRPr sz="1425" b="0">
                <a:solidFill>
                  <a:srgbClr val="DDF7EC"/>
                </a:solidFill>
              </a:defRPr>
            </a:pPr>
            <a:r>
              <a:rPr sz="1425" b="0">
                <a:solidFill>
                  <a:srgbClr val="DDF7EC"/>
                </a:solidFill>
              </a:rPr>
              <a:t>✓ 13 tests passed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DDF7EC"/>
                </a:solidFill>
              </a:defRPr>
            </a:pPr>
            <a:r>
              <a:rPr sz="1425" b="0">
                <a:solidFill>
                  <a:srgbClr val="DDF7EC"/>
                </a:solidFill>
              </a:rPr>
              <a:t>$ HL7 FHIR Validator + IPS 2.0.1</a:t>
            </a:r>
          </a:p>
          <a:p xmlns:a="http://schemas.openxmlformats.org/drawingml/2006/main">
            <a:pPr algn="l">
              <a:defRPr sz="1425" b="0">
                <a:solidFill>
                  <a:srgbClr val="DDF7EC"/>
                </a:solidFill>
              </a:defRPr>
            </a:pPr>
            <a:r>
              <a:rPr sz="1425" b="0">
                <a:solidFill>
                  <a:srgbClr val="DDF7EC"/>
                </a:solidFill>
              </a:rPr>
              <a:t>✓ 4 Bundles · 0 errors · 0 warnings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DDF7EC"/>
                </a:solidFill>
              </a:defRPr>
            </a:pPr>
            <a:r>
              <a:rPr sz="1425" b="0">
                <a:solidFill>
                  <a:srgbClr val="DDF7EC"/>
                </a:solidFill>
              </a:rPr>
              <a:t>$ tx.fhir.org terminology snapshot</a:t>
            </a:r>
          </a:p>
          <a:p xmlns:a="http://schemas.openxmlformats.org/drawingml/2006/main">
            <a:pPr algn="l">
              <a:defRPr sz="1425" b="0">
                <a:solidFill>
                  <a:srgbClr val="DDF7EC"/>
                </a:solidFill>
              </a:defRPr>
            </a:pPr>
            <a:r>
              <a:rPr sz="1425" b="0">
                <a:solidFill>
                  <a:srgbClr val="DDF7EC"/>
                </a:solidFill>
              </a:rPr>
              <a:t>✓ 4/4 lookup + validate-code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66E9CC-813C-440E-9431-00CCC82AD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314950"/>
            <a:ext cx="619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GitHub includes the PyTorch clients, FedAvg coordinator, external terminology snapshot, Bundles, review packet, and unedited validator logs.</a:t>
            </a:r>
          </a:p>
        </p:txBody>
      </p:sp>
    </p:spTree>
    <p:extLst>
      <p:ext uri="{BB962C8B-B14F-4D97-AF65-F5344CB8AC3E}">
        <p14:creationId xmlns:p14="http://schemas.microsoft.com/office/powerpoint/2010/main" val="37678508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5B5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61D3DBB-0F68-4865-8CD8-A5094C8EA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FE1D6"/>
                </a:solidFill>
              </a:defRPr>
            </a:pPr>
            <a:r>
              <a:rPr sz="975" b="1">
                <a:solidFill>
                  <a:srgbClr val="9FE1D6"/>
                </a:solidFill>
              </a:rPr>
              <a:t>THE CLOSING CLAIM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81F84C-C66C-4527-8642-BD8CBE84B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47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The standards do the traveling.</a:t>
            </a:r>
          </a:p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The reports stay local.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2AE7B8-2206-420B-A191-C90CE1643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31432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0B6A62"/>
          </a:solidFill>
          <a:ln xmlns:a="http://schemas.openxmlformats.org/drawingml/2006/main" w="9525">
            <a:solidFill>
              <a:srgbClr val="3B9E9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6F1C21-E835-4CE6-AEF7-C51BC3D94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194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Federated learning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8F8005-35AB-498F-93A2-27AA79A7A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95700"/>
            <a:ext cx="2552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7F2ED"/>
                </a:solidFill>
              </a:defRPr>
            </a:pPr>
            <a:r>
              <a:rPr sz="1275" b="0">
                <a:solidFill>
                  <a:srgbClr val="D7F2ED"/>
                </a:solidFill>
              </a:rPr>
              <a:t>aligns local clinical terminology without centralizing raw reports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BF62B0-AAC1-424E-9462-D3457BEFC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914650"/>
            <a:ext cx="31432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0B6A62"/>
          </a:solidFill>
          <a:ln xmlns:a="http://schemas.openxmlformats.org/drawingml/2006/main" w="9525">
            <a:solidFill>
              <a:srgbClr val="3B9E9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F0157B-17DC-413B-9C55-EB44EED69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2194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FHIR terminology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E282D9-A2C5-4890-AC11-5DA95E4AD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695700"/>
            <a:ext cx="2552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7F2ED"/>
                </a:solidFill>
              </a:defRPr>
            </a:pPr>
            <a:r>
              <a:rPr sz="1275" b="0">
                <a:solidFill>
                  <a:srgbClr val="D7F2ED"/>
                </a:solidFill>
              </a:rPr>
              <a:t>makes CodeSystem, ValueSet, ConceptMap, and validation evidence auditable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E4FA82-E3F9-4B8E-B1D1-A4B2F0B62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914650"/>
            <a:ext cx="31432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0B6A62"/>
          </a:solidFill>
          <a:ln xmlns:a="http://schemas.openxmlformats.org/drawingml/2006/main" w="9525">
            <a:solidFill>
              <a:srgbClr val="3B9E9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DBC2C8-8732-4D48-A0B9-CC1D60EFE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2194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FHIR IPS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CB49CB-1D6C-4659-BCD9-2FD42ECD9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695700"/>
            <a:ext cx="2552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7F2ED"/>
                </a:solidFill>
              </a:defRPr>
            </a:pPr>
            <a:r>
              <a:rPr sz="1275" b="0">
                <a:solidFill>
                  <a:srgbClr val="D7F2ED"/>
                </a:solidFill>
              </a:rPr>
              <a:t>packages coded facts into a cross-border patient summary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5B6FA1-9987-483D-8076-4F60FB25D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FE1D6"/>
                </a:solidFill>
              </a:defRPr>
            </a:pPr>
            <a:r>
              <a:rPr sz="1200" b="1">
                <a:solidFill>
                  <a:srgbClr val="9FE1D6"/>
                </a:solidFill>
              </a:rPr>
              <a:t>Working demo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C55863-51C6-433F-8C26-563947B2E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86450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crossroad-fhir-link-three.vercel.app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5FDD30-3B44-46A6-A802-8DBFC2722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FE1D6"/>
                </a:solidFill>
              </a:defRPr>
            </a:pPr>
            <a:r>
              <a:rPr sz="900" b="0">
                <a:solidFill>
                  <a:srgbClr val="9FE1D6"/>
                </a:solidFill>
              </a:rPr>
              <a:t>Synthetic prototype · readiness checks only · no formal privacy guarantee</a:t>
            </a:r>
          </a:p>
        </p:txBody>
      </p:sp>
    </p:spTree>
    <p:extLst>
      <p:ext uri="{BB962C8B-B14F-4D97-AF65-F5344CB8AC3E}">
        <p14:creationId xmlns:p14="http://schemas.microsoft.com/office/powerpoint/2010/main" val="16286915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2026-07-12T04:08:47.5340000Z</dcterms:created>
  <dcterms:modified xsi:type="dcterms:W3CDTF">2026-07-12T04:08:47.5340000Z</dcterms:modified>
</coreProperties>
</file>