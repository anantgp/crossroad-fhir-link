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90ddf074de436d" /><Relationship Type="http://schemas.openxmlformats.org/officeDocument/2006/relationships/extended-properties" Target="/docProps/app.xml" Id="R00d09dc248b94e6f" /><Relationship Type="http://schemas.openxmlformats.org/officeDocument/2006/relationships/officeDocument" Target="/ppt/presentation.xml" Id="R108f9b2bd55940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fc89b0aedb494c"/>
  </p:sldMasterIdLst>
  <p:notesMasterIdLst>
    <p:notesMasterId xmlns:r="http://schemas.openxmlformats.org/officeDocument/2006/relationships" r:id="R43b0831a13b644bf"/>
  </p:notesMasterIdLst>
  <p:sldIdLst>
    <p:sldId xmlns:r="http://schemas.openxmlformats.org/officeDocument/2006/relationships" id="256" r:id="Rae3b73c74c9c45b2"/>
    <p:sldId xmlns:r="http://schemas.openxmlformats.org/officeDocument/2006/relationships" id="257" r:id="Rcd2c230a5df348bf"/>
    <p:sldId xmlns:r="http://schemas.openxmlformats.org/officeDocument/2006/relationships" id="258" r:id="Rd9f0c62c898240d0"/>
    <p:sldId xmlns:r="http://schemas.openxmlformats.org/officeDocument/2006/relationships" id="259" r:id="R24933b83640246c8"/>
    <p:sldId xmlns:r="http://schemas.openxmlformats.org/officeDocument/2006/relationships" id="260" r:id="Rfffcf9df90ea4e0f"/>
    <p:sldId xmlns:r="http://schemas.openxmlformats.org/officeDocument/2006/relationships" id="261" r:id="Raa0d7e6b2f44413b"/>
    <p:sldId xmlns:r="http://schemas.openxmlformats.org/officeDocument/2006/relationships" id="262" r:id="Rfba2f48945c34b69"/>
    <p:sldId xmlns:r="http://schemas.openxmlformats.org/officeDocument/2006/relationships" id="263" r:id="R03a3a2f62a924c1d"/>
    <p:sldId xmlns:r="http://schemas.openxmlformats.org/officeDocument/2006/relationships" id="264" r:id="R32cda3e0f9a6427c"/>
    <p:sldId xmlns:r="http://schemas.openxmlformats.org/officeDocument/2006/relationships" id="265" r:id="Rae8dd623b13f451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0155613dd94102" /><Relationship Type="http://schemas.openxmlformats.org/officeDocument/2006/relationships/slideMaster" Target="/ppt/slideMasters/slideMaster1.xml" Id="Ra1fc89b0aedb494c" /><Relationship Type="http://schemas.openxmlformats.org/officeDocument/2006/relationships/notesMaster" Target="/ppt/notesMasters/notesMaster1.xml" Id="R43b0831a13b644bf" /><Relationship Type="http://schemas.openxmlformats.org/officeDocument/2006/relationships/presProps" Target="/ppt/presProps.xml" Id="R177134938c024bdd" /><Relationship Type="http://schemas.openxmlformats.org/officeDocument/2006/relationships/tableStyles" Target="/ppt/tableStyles.xml" Id="R2be58ec0e4b74a18" /><Relationship Type="http://schemas.openxmlformats.org/officeDocument/2006/relationships/slide" Target="/ppt/slides/slide1.xml" Id="Rae3b73c74c9c45b2" /><Relationship Type="http://schemas.openxmlformats.org/officeDocument/2006/relationships/slide" Target="/ppt/slides/slide2.xml" Id="Rcd2c230a5df348bf" /><Relationship Type="http://schemas.openxmlformats.org/officeDocument/2006/relationships/slide" Target="/ppt/slides/slide3.xml" Id="Rd9f0c62c898240d0" /><Relationship Type="http://schemas.openxmlformats.org/officeDocument/2006/relationships/slide" Target="/ppt/slides/slide4.xml" Id="R24933b83640246c8" /><Relationship Type="http://schemas.openxmlformats.org/officeDocument/2006/relationships/slide" Target="/ppt/slides/slide5.xml" Id="Rfffcf9df90ea4e0f" /><Relationship Type="http://schemas.openxmlformats.org/officeDocument/2006/relationships/slide" Target="/ppt/slides/slide6.xml" Id="Raa0d7e6b2f44413b" /><Relationship Type="http://schemas.openxmlformats.org/officeDocument/2006/relationships/slide" Target="/ppt/slides/slide7.xml" Id="Rfba2f48945c34b69" /><Relationship Type="http://schemas.openxmlformats.org/officeDocument/2006/relationships/slide" Target="/ppt/slides/slide8.xml" Id="R03a3a2f62a924c1d" /><Relationship Type="http://schemas.openxmlformats.org/officeDocument/2006/relationships/slide" Target="/ppt/slides/slide9.xml" Id="R32cda3e0f9a6427c" /><Relationship Type="http://schemas.openxmlformats.org/officeDocument/2006/relationships/slide" Target="/ppt/slides/slide10.xml" Id="Rae8dd623b13f45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479652441c48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a714834c8e48ca" /><Relationship Type="http://schemas.openxmlformats.org/officeDocument/2006/relationships/notesMaster" Target="/ppt/notesMasters/notesMaster1.xml" Id="R4d06ee3ad0f14f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62b57a08344ef8" /><Relationship Type="http://schemas.openxmlformats.org/officeDocument/2006/relationships/notesMaster" Target="/ppt/notesMasters/notesMaster1.xml" Id="R1949f3fd68c746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d03ecfb7a8402e" /><Relationship Type="http://schemas.openxmlformats.org/officeDocument/2006/relationships/notesMaster" Target="/ppt/notesMasters/notesMaster1.xml" Id="Rdf9c7359e47541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8f6ad4f78242ce" /><Relationship Type="http://schemas.openxmlformats.org/officeDocument/2006/relationships/notesMaster" Target="/ppt/notesMasters/notesMaster1.xml" Id="R10e34c8e516a4d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a674d908b74128" /><Relationship Type="http://schemas.openxmlformats.org/officeDocument/2006/relationships/notesMaster" Target="/ppt/notesMasters/notesMaster1.xml" Id="Ra3fe764a65bc42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a414925a574022" /><Relationship Type="http://schemas.openxmlformats.org/officeDocument/2006/relationships/notesMaster" Target="/ppt/notesMasters/notesMaster1.xml" Id="R469335644a7b47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c09328fec048e3" /><Relationship Type="http://schemas.openxmlformats.org/officeDocument/2006/relationships/notesMaster" Target="/ppt/notesMasters/notesMaster1.xml" Id="R52d5bb535d8b47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e621b3b767485a" /><Relationship Type="http://schemas.openxmlformats.org/officeDocument/2006/relationships/notesMaster" Target="/ppt/notesMasters/notesMaster1.xml" Id="R7ad59e634dea46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21a22ba4374ba3" /><Relationship Type="http://schemas.openxmlformats.org/officeDocument/2006/relationships/notesMaster" Target="/ppt/notesMasters/notesMaster1.xml" Id="R7c3ce5de561648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4ab007168d40d1" /><Relationship Type="http://schemas.openxmlformats.org/officeDocument/2006/relationships/notesMaster" Target="/ppt/notesMasters/notesMaster1.xml" Id="R49aba93fb61f45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9e1e026ca45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610568e9ef44c7" /><Relationship Type="http://schemas.openxmlformats.org/officeDocument/2006/relationships/slideLayout" Target="/ppt/slideLayouts/slideLayout1.xml" Id="R83ae9d608f3449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ae9d608f3449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9fee321884257" /><Relationship Type="http://schemas.openxmlformats.org/officeDocument/2006/relationships/image" Target="/ppt/media/image.jpeg" Id="R8081e239b5e1493e" /><Relationship Type="http://schemas.openxmlformats.org/officeDocument/2006/relationships/notesSlide" Target="/ppt/notesSlides/notesSlide1.xml" Id="Rf8b8f19544054c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716a4a8cbb4e65" /><Relationship Type="http://schemas.openxmlformats.org/officeDocument/2006/relationships/notesSlide" Target="/ppt/notesSlides/notesSlide2.xml" Id="Rc7cce1e384cc48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3d335de934c2c" /><Relationship Type="http://schemas.openxmlformats.org/officeDocument/2006/relationships/image" Target="/ppt/media/image.png" Id="R0d5ffedb5bfc4bda" /><Relationship Type="http://schemas.openxmlformats.org/officeDocument/2006/relationships/image" Target="/ppt/media/image2.png" Id="Ra41b39008ffb42a2" /><Relationship Type="http://schemas.openxmlformats.org/officeDocument/2006/relationships/notesSlide" Target="/ppt/notesSlides/notesSlide3.xml" Id="R8b6a20f976e149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e046940aa45fb" /><Relationship Type="http://schemas.openxmlformats.org/officeDocument/2006/relationships/image" Target="/ppt/media/image3.png" Id="R07d5471a8f5f42a5" /><Relationship Type="http://schemas.openxmlformats.org/officeDocument/2006/relationships/notesSlide" Target="/ppt/notesSlides/notesSlide4.xml" Id="R825c0aa78aa943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ab00baa1e4c48" /><Relationship Type="http://schemas.openxmlformats.org/officeDocument/2006/relationships/image" Target="/ppt/media/image2.jpeg" Id="Rbae4d001929f4e57" /><Relationship Type="http://schemas.openxmlformats.org/officeDocument/2006/relationships/notesSlide" Target="/ppt/notesSlides/notesSlide5.xml" Id="R12c78689cc124e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8e94001f84da2" /><Relationship Type="http://schemas.openxmlformats.org/officeDocument/2006/relationships/image" Target="/ppt/media/image3.jpeg" Id="R0bc4e07379974330" /><Relationship Type="http://schemas.openxmlformats.org/officeDocument/2006/relationships/notesSlide" Target="/ppt/notesSlides/notesSlide6.xml" Id="R0ad9db8d06b84f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330d50cc64643" /><Relationship Type="http://schemas.openxmlformats.org/officeDocument/2006/relationships/image" Target="/ppt/media/image4.jpeg" Id="R1f2d6e2b08634ff0" /><Relationship Type="http://schemas.openxmlformats.org/officeDocument/2006/relationships/notesSlide" Target="/ppt/notesSlides/notesSlide7.xml" Id="R8b923c860e6146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56cc856ee4fcf" /><Relationship Type="http://schemas.openxmlformats.org/officeDocument/2006/relationships/image" Target="/ppt/media/image4.png" Id="R5e377f3cee4e4b9e" /><Relationship Type="http://schemas.openxmlformats.org/officeDocument/2006/relationships/notesSlide" Target="/ppt/notesSlides/notesSlide8.xml" Id="R38b52779956c44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327247afe4933" /><Relationship Type="http://schemas.openxmlformats.org/officeDocument/2006/relationships/notesSlide" Target="/ppt/notesSlides/notesSlide9.xml" Id="R520f03a4621d4b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30e6cd6a14373" /><Relationship Type="http://schemas.openxmlformats.org/officeDocument/2006/relationships/notesSlide" Target="/ppt/notesSlides/notesSlide10.xml" Id="Re5e12450e1e64f5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CE61C6-0616-47B5-8EE0-E7B050A2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7CF43F-3027-4FBD-8C60-8A46E493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HL7 AI CHALLENGE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F839C-0246-413B-8AA1-86F575AC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62050"/>
            <a:ext cx="4476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8242E"/>
                </a:solidFill>
              </a:defRPr>
            </a:pPr>
            <a:r>
              <a:rPr sz="4050" b="1">
                <a:solidFill>
                  <a:srgbClr val="18242E"/>
                </a:solidFill>
              </a:rPr>
              <a:t>Cross-Border</a:t>
            </a:r>
          </a:p>
          <a:p xmlns:a="http://schemas.openxmlformats.org/drawingml/2006/main">
            <a:pPr algn="l">
              <a:defRPr sz="4050" b="1">
                <a:solidFill>
                  <a:srgbClr val="18242E"/>
                </a:solidFill>
              </a:defRPr>
            </a:pPr>
            <a:r>
              <a:rPr sz="4050" b="1">
                <a:solidFill>
                  <a:srgbClr val="18242E"/>
                </a:solidFill>
              </a:rPr>
              <a:t>IPS AI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4FD4D-A275-480A-8A28-500B01A0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7283"/>
                </a:solidFill>
              </a:defRPr>
            </a:pPr>
            <a:r>
              <a:rPr sz="1725" b="0">
                <a:solidFill>
                  <a:srgbClr val="607283"/>
                </a:solidFill>
              </a:rPr>
              <a:t>Federated, FHIR-native terminology alignment for cross-border Type 2 diabetes summaries.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0C681-C344-437D-B5DB-5F5FDC98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E1C73-EC7D-4D54-9111-78E465CB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428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B55"/>
                </a:solidFill>
              </a:defRPr>
            </a:pPr>
            <a:r>
              <a:rPr sz="1350" b="1">
                <a:solidFill>
                  <a:srgbClr val="075B55"/>
                </a:solidFill>
              </a:rPr>
              <a:t>FHIR IPS is the interoperable artifact.</a:t>
            </a:r>
          </a:p>
          <a:p xmlns:a="http://schemas.openxmlformats.org/drawingml/2006/main">
            <a:pPr algn="l">
              <a:defRPr sz="1350" b="1">
                <a:solidFill>
                  <a:srgbClr val="075B55"/>
                </a:solidFill>
              </a:defRPr>
            </a:pPr>
            <a:r>
              <a:rPr sz="1350" b="1">
                <a:solidFill>
                  <a:srgbClr val="075B55"/>
                </a:solidFill>
              </a:rPr>
              <a:t>PDFs are human-readable renderings.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4FCD3-F21C-4FCC-BAE0-61FA240D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76250"/>
            <a:ext cx="6191250" cy="5619750"/>
          </a:xfrm>
          <a:prstGeom xmlns:a="http://schemas.openxmlformats.org/drawingml/2006/main" prst="roundRect">
            <a:avLst>
              <a:gd name="adj" fmla="val 13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1e239b5e1493e"/>
          <a:srcRect xmlns:a="http://schemas.openxmlformats.org/drawingml/2006/main" l="11597" t="0" r="115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05450" y="590550"/>
            <a:ext cx="5962650" cy="5391150"/>
          </a:xfrm>
          <a:prstGeom xmlns:a="http://schemas.openxmlformats.org/drawingml/2006/main" prst="roundRect">
            <a:avLst>
              <a:gd name="adj" fmla="val 1413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96EA8-5646-4051-BD41-69AD7245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283"/>
                </a:solidFill>
              </a:defRPr>
            </a:pPr>
            <a:r>
              <a:rPr sz="975" b="0">
                <a:solidFill>
                  <a:srgbClr val="607283"/>
                </a:solidFill>
              </a:rPr>
              <a:t>Working demo · synthetic evidence · official IPS 2.0.1 validation</a:t>
            </a:r>
          </a:p>
        </p:txBody>
      </p:sp>
    </p:spTree>
    <p:extLst>
      <p:ext uri="{BB962C8B-B14F-4D97-AF65-F5344CB8AC3E}">
        <p14:creationId xmlns:p14="http://schemas.microsoft.com/office/powerpoint/2010/main" val="12964381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C317FF-9AD2-41AC-B11F-CA5DD38B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8D834-83C0-4F82-8C73-86724B9A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2345CE-FF4F-4533-BC64-417350FA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A5EE6-57EE-44F9-A219-8C4C91CE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AB224-3A03-452D-8E69-E7DDD7FA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547B4-C8EE-4726-B30D-4916FC24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One condition arrives under many local names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6E37C-E680-4C2E-A967-DE2D2CEA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USA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5D02C-77B6-4D5C-96AE-D3D71DF2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5257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T2DM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5FE8B-F20B-429D-84A6-D582DA71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India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04DFB-A889-4160-874E-D0D0CC60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3336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sugar disease · madhumeha type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16522-44FF-44D6-A383-0AF2B2E9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Australia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C4D07-328A-4074-A9D9-FF71A8E3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11467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type 2 DM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34FA9D-5ED9-4DEC-BDA7-EED462E9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24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07283"/>
                </a:solidFill>
              </a:defRPr>
            </a:pPr>
            <a:r>
              <a:rPr sz="975" b="1">
                <a:solidFill>
                  <a:srgbClr val="607283"/>
                </a:solidFill>
              </a:rPr>
              <a:t>Europe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C49B5-DCB0-48FA-99E9-3C7C189D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8957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42E"/>
                </a:solidFill>
              </a:defRPr>
            </a:pPr>
            <a:r>
              <a:rPr sz="1800" b="1">
                <a:solidFill>
                  <a:srgbClr val="18242E"/>
                </a:solidFill>
              </a:rPr>
              <a:t>DM2 · diabetes mellitus type II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023888-195B-46B5-9992-A407CA56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14625"/>
            <a:ext cx="76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F766E"/>
                </a:solidFill>
              </a:defRPr>
            </a:pPr>
            <a:r>
              <a:rPr sz="3600" b="1">
                <a:solidFill>
                  <a:srgbClr val="0F766E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CABA18-19D9-47D8-A108-1AFD41EC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57375"/>
            <a:ext cx="44767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6F4F1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D7F69-BB7D-4CD8-B7B0-13B50D1F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098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Canonical meaning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422230-49A6-4392-8132-4C3FCB61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479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242E"/>
                </a:solidFill>
              </a:defRPr>
            </a:pPr>
            <a:r>
              <a:rPr sz="2250" b="1">
                <a:solidFill>
                  <a:srgbClr val="18242E"/>
                </a:solidFill>
              </a:rPr>
              <a:t>Type 2 diabetes mellitus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0604F7-864D-4FC0-8834-273B9E75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623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5B55"/>
                </a:solidFill>
              </a:defRPr>
            </a:pPr>
            <a:r>
              <a:rPr sz="1425" b="1">
                <a:solidFill>
                  <a:srgbClr val="075B55"/>
                </a:solidFill>
              </a:rPr>
              <a:t>SNOMED CT 44054006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E20634-1357-47C7-853E-F9A2543D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A9"/>
                </a:solidFill>
              </a:defRPr>
            </a:pPr>
            <a:r>
              <a:rPr sz="1350" b="1">
                <a:solidFill>
                  <a:srgbClr val="2563A9"/>
                </a:solidFill>
              </a:rPr>
              <a:t>ICD-10 E11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710988-34E0-44A2-AC40-38492183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Without semantic alignment, a receiver EHR gets ambiguous text instead of computable clinical data.</a:t>
            </a:r>
          </a:p>
        </p:txBody>
      </p:sp>
    </p:spTree>
    <p:extLst>
      <p:ext uri="{BB962C8B-B14F-4D97-AF65-F5344CB8AC3E}">
        <p14:creationId xmlns:p14="http://schemas.microsoft.com/office/powerpoint/2010/main" val="419955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D439C3-2D2F-49AA-A39C-6D641C86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341181-6376-4F1A-997F-C88A4BB1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7D4F0-17EA-4037-BBD7-0807C7B1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869C9-7F2F-41AA-BD15-1C4370B8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7AD5F-299D-44EF-AD7E-BCCEA43A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0E92A4-FF93-4F84-BC01-F9A18469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FHIR IPS is the artifact that crosses the border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ffedb5bfc4bda"/>
          <a:stretch xmlns:a="http://schemas.openxmlformats.org/drawingml/2006/main"/>
        </p:blipFill>
        <p:spPr>
          <a:xfrm xmlns:a="http://schemas.openxmlformats.org/drawingml/2006/main">
            <a:off x="666750" y="1843871"/>
            <a:ext cx="2476500" cy="3503634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E15AB-2AC6-4EFA-9028-9BD1EFEE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07283"/>
                </a:solidFill>
              </a:defRPr>
            </a:pPr>
            <a:r>
              <a:rPr sz="1200" b="1">
                <a:solidFill>
                  <a:srgbClr val="607283"/>
                </a:solidFill>
              </a:rPr>
              <a:t>Human 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E3C9B-E2AB-47F1-8CF0-FF5481BE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D0CD0-C6BA-4D84-9763-A961B634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3360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6F4F1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32FB10-7C18-4E33-9522-13C27C95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574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075B55"/>
                </a:solidFill>
              </a:defRPr>
            </a:pPr>
            <a:r>
              <a:rPr sz="2625" b="1">
                <a:solidFill>
                  <a:srgbClr val="075B55"/>
                </a:solidFill>
              </a:rPr>
              <a:t>HL7 FHIR IPS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1E5510-0265-4614-AAFB-3A5F15B9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62300"/>
            <a:ext cx="295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Bundle.type = document</a:t>
            </a:r>
          </a:p>
          <a:p xmlns:a="http://schemas.openxmlformats.org/drawingml/2006/main">
            <a:pPr algn="ctr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Composition first</a:t>
            </a:r>
          </a:p>
          <a:p xmlns:a="http://schemas.openxmlformats.org/drawingml/2006/main">
            <a:pPr algn="ctr">
              <a:defRPr sz="1500" b="1">
                <a:solidFill>
                  <a:srgbClr val="18242E"/>
                </a:solidFill>
              </a:defRPr>
            </a:pPr>
            <a:r>
              <a:rPr sz="1500" b="1">
                <a:solidFill>
                  <a:srgbClr val="18242E"/>
                </a:solidFill>
              </a:rPr>
              <a:t>Coded clinical resources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534F1F-D024-4C8F-BF9C-28E165E0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→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b39008ffb42a2"/>
          <a:stretch xmlns:a="http://schemas.openxmlformats.org/drawingml/2006/main"/>
        </p:blipFill>
        <p:spPr>
          <a:xfrm xmlns:a="http://schemas.openxmlformats.org/drawingml/2006/main">
            <a:off x="9029700" y="1843871"/>
            <a:ext cx="2476500" cy="3503634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DAC06B-1AF0-4FB4-8D84-DBBF131E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8102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07283"/>
                </a:solidFill>
              </a:defRPr>
            </a:pPr>
            <a:r>
              <a:rPr sz="1200" b="1">
                <a:solidFill>
                  <a:srgbClr val="607283"/>
                </a:solidFill>
              </a:rPr>
              <a:t>Human receiver view</a:t>
            </a:r>
          </a:p>
        </p:txBody>
      </p:sp>
    </p:spTree>
    <p:extLst>
      <p:ext uri="{BB962C8B-B14F-4D97-AF65-F5344CB8AC3E}">
        <p14:creationId xmlns:p14="http://schemas.microsoft.com/office/powerpoint/2010/main" val="1868086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F7BA36-AF2F-483D-82C7-B11093C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B0745-6091-47F5-A26D-A3D4271B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72525D-C0C3-49EC-BCB4-C57571D2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A2D51-55E5-4D42-841A-D693545F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17367-D309-44AB-B266-DE0D61A3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2092C-E562-46F7-A7EB-324684BE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Every transformation remains inspectable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848D9F-5036-416A-9318-818797D1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283"/>
                </a:solidFill>
              </a:defRPr>
            </a:pPr>
            <a:r>
              <a:rPr sz="1275" b="0">
                <a:solidFill>
                  <a:srgbClr val="607283"/>
                </a:solidFill>
              </a:rPr>
              <a:t>The registry is deterministic; the federated linker is used only on misses; FHIR terminology validates and publishes the mapping.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5471a8f5f42a5"/>
          <a:stretch xmlns:a="http://schemas.openxmlformats.org/drawingml/2006/main"/>
        </p:blipFill>
        <p:spPr>
          <a:xfrm xmlns:a="http://schemas.openxmlformats.org/drawingml/2006/main">
            <a:off x="2625498" y="1657350"/>
            <a:ext cx="6874329" cy="4572000"/>
          </a:xfrm>
          <a:prstGeom xmlns:a="http://schemas.openxmlformats.org/drawingml/2006/main" prst="roundRect">
            <a:avLst>
              <a:gd name="adj" fmla="val 1667"/>
            </a:avLst>
          </a:prstGeom>
        </p:spPr>
      </p:pic>
    </p:spTree>
    <p:extLst>
      <p:ext uri="{BB962C8B-B14F-4D97-AF65-F5344CB8AC3E}">
        <p14:creationId xmlns:p14="http://schemas.microsoft.com/office/powerpoint/2010/main" val="6011685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ED78D4-65E7-44AB-9BEE-8C29A848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74516-DE54-4645-8957-73A94E70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FEDERATED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16C50E-6BED-497C-BAE5-F21A7C24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BD2B6-BA70-426F-9FB8-32CAF905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F3EE9-A21E-43EC-9DCE-07320033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5086A-8E28-4689-9E40-C7B105B6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Federation adds one cross-site mapping without moving reports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0F7A4F-69D7-4513-8724-A441581E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48/48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C14A36-CFC6-471D-A44B-E15A2EA8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federated transfer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D54C8F-B722-4D5D-9A59-12E6164B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42E"/>
                </a:solidFill>
              </a:defRPr>
            </a:pPr>
            <a:r>
              <a:rPr sz="3150" b="1">
                <a:solidFill>
                  <a:srgbClr val="18242E"/>
                </a:solidFill>
              </a:rPr>
              <a:t>47/48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39404-C28E-46E0-B89C-4B480FE1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local-only transfer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885CC-3B17-4336-B11B-2DBCC4B5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F766E"/>
                </a:solidFill>
              </a:defRPr>
            </a:pPr>
            <a:r>
              <a:rPr sz="3150" b="1">
                <a:solidFill>
                  <a:srgbClr val="0F766E"/>
                </a:solidFill>
              </a:rPr>
              <a:t>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0C966F-CB1B-46F0-86E7-B5C57C7E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measured transfer gain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DFAAE-D413-492E-9B83-FB67225F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42E"/>
                </a:solidFill>
              </a:defRPr>
            </a:pPr>
            <a:r>
              <a:rPr sz="1350" b="1">
                <a:solidFill>
                  <a:srgbClr val="18242E"/>
                </a:solidFill>
              </a:rPr>
              <a:t>4/4 receiver sites did not regress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57268-93E7-48DC-B918-63495EF8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150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66B00"/>
                </a:solidFill>
              </a:defRPr>
            </a:pPr>
            <a:r>
              <a:rPr sz="1050" b="1">
                <a:solidFill>
                  <a:srgbClr val="B66B00"/>
                </a:solidFill>
              </a:rPr>
              <a:t>Single-seed synthetic benchmark; not clinical accuracy.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55C14B-9843-408A-BD95-2F8868C8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04950"/>
            <a:ext cx="7410450" cy="4619625"/>
          </a:xfrm>
          <a:prstGeom xmlns:a="http://schemas.openxmlformats.org/drawingml/2006/main" prst="roundRect">
            <a:avLst>
              <a:gd name="adj" fmla="val 16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4d001929f4e57"/>
          <a:stretch xmlns:a="http://schemas.openxmlformats.org/drawingml/2006/main"/>
        </p:blipFill>
        <p:spPr>
          <a:xfrm xmlns:a="http://schemas.openxmlformats.org/drawingml/2006/main">
            <a:off x="4171950" y="1919552"/>
            <a:ext cx="7181850" cy="3790421"/>
          </a:xfrm>
          <a:prstGeom xmlns:a="http://schemas.openxmlformats.org/drawingml/2006/main" prst="roundRect">
            <a:avLst>
              <a:gd name="adj" fmla="val 1735"/>
            </a:avLst>
          </a:prstGeom>
        </p:spPr>
      </p:pic>
    </p:spTree>
    <p:extLst>
      <p:ext uri="{BB962C8B-B14F-4D97-AF65-F5344CB8AC3E}">
        <p14:creationId xmlns:p14="http://schemas.microsoft.com/office/powerpoint/2010/main" val="15539794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4451DE-3246-46C4-8AF3-CE13797A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F6CA6-9834-4F88-A7AA-705FBF3B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FHIR-NATIVE LINKER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3F1B4-A630-4F6D-B20B-29558D3D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D0AA5-663D-4DFF-88D0-F6B6B761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8C54F-AE8E-414F-B02E-4E5002C9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792BF9-0D5A-4AF5-80A8-9F559560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FHIR turns an AI prediction into an auditable mapping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47BE0-6A21-4094-8760-B2197843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7239000" cy="4714875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c4e07379974330"/>
          <a:stretch xmlns:a="http://schemas.openxmlformats.org/drawingml/2006/main"/>
        </p:blipFill>
        <p:spPr>
          <a:xfrm xmlns:a="http://schemas.openxmlformats.org/drawingml/2006/main">
            <a:off x="697554" y="1543050"/>
            <a:ext cx="6872591" cy="4486275"/>
          </a:xfrm>
          <a:prstGeom xmlns:a="http://schemas.openxmlformats.org/drawingml/2006/main" prst="roundRect">
            <a:avLst>
              <a:gd name="adj" fmla="val 1699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507E0-0ABE-4F2C-8AD3-494E1B88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7E55F-2747-41E3-AD8F-58DF2405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002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42E"/>
                </a:solidFill>
              </a:defRPr>
            </a:pPr>
            <a:r>
              <a:rPr sz="1425" b="1">
                <a:solidFill>
                  <a:srgbClr val="18242E"/>
                </a:solidFill>
              </a:rPr>
              <a:t>CodeSystem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73C49-B674-4C27-9175-363CB2AA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954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represents local site terms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99B7C-D063-4A79-B160-26E82291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47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CE986C-243A-4FCA-BF91-D64DD3BE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289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42E"/>
                </a:solidFill>
              </a:defRPr>
            </a:pPr>
            <a:r>
              <a:rPr sz="1425" b="1">
                <a:solidFill>
                  <a:srgbClr val="18242E"/>
                </a:solidFill>
              </a:rPr>
              <a:t>ValueSet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F4619E-F3CC-4D85-8D62-839D8C9D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241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constrains allowed targets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135C23-9742-4D80-82E2-C979DC23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766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35566-805A-449E-B7D8-0FDB96B2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576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42E"/>
                </a:solidFill>
              </a:defRPr>
            </a:pPr>
            <a:r>
              <a:rPr sz="1425" b="1">
                <a:solidFill>
                  <a:srgbClr val="18242E"/>
                </a:solidFill>
              </a:rPr>
              <a:t>ConceptMap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524270-33D4-488C-ACA8-2A715D31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52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publishes local → standard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03F41D-BE18-4219-829A-D5D91005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05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164887-3C52-44DE-9A09-1CEDD62C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863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42E"/>
                </a:solidFill>
              </a:defRPr>
            </a:pPr>
            <a:r>
              <a:rPr sz="1200" b="1">
                <a:solidFill>
                  <a:srgbClr val="18242E"/>
                </a:solidFill>
              </a:rPr>
              <a:t>$translate / $lookup / $validate-code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107394-02C4-4D56-8683-E87CF5C8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181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records validation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8CD488-3DD4-4B0F-8BBC-934B0C7A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7435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66B00"/>
                </a:solidFill>
              </a:defRPr>
            </a:pPr>
            <a:r>
              <a:rPr sz="1125" b="1">
                <a:solidFill>
                  <a:srgbClr val="B66B00"/>
                </a:solidFill>
              </a:rPr>
              <a:t>Below 0.70 confidence → unresolved + human review</a:t>
            </a:r>
          </a:p>
        </p:txBody>
      </p:sp>
    </p:spTree>
    <p:extLst>
      <p:ext uri="{BB962C8B-B14F-4D97-AF65-F5344CB8AC3E}">
        <p14:creationId xmlns:p14="http://schemas.microsoft.com/office/powerpoint/2010/main" val="16618455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BD4FBE-9FD8-4C92-B48B-FEF5A6C2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051F8-A480-42AF-BDEB-2A9180EB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EF2C3-512E-479E-AAE6-E19F1B8AF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06D0F-4F79-4911-9922-A0EEC85F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BDE60-8B01-4CF1-BFC2-2CCC2B53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AA2EB7-99C2-43E2-8E2C-32E4948A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All four exchange Bundles pass the IPS 2.0.1 profile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1EBE2-65A4-4ED7-BD08-8E083D8C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4/4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D8CD0-1CFA-4E90-9D35-EBEF2E7C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current route Bundles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56773-2172-4C3F-8763-BB9C16CD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66D81-E29A-48AD-8F8A-FBDC7866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576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errors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56D467-050B-4894-B03D-A5D6685A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DED132-6FEC-4A5E-A222-D44627F7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warnings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CA2CE-3DC8-4DE1-A2AB-B956DCAA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66B00"/>
                </a:solidFill>
              </a:defRPr>
            </a:pPr>
            <a:r>
              <a:rPr sz="1275" b="1">
                <a:solidFill>
                  <a:srgbClr val="B66B00"/>
                </a:solidFill>
              </a:rPr>
              <a:t>2 information notes per Bundle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616157-8D61-4448-98EC-3BD4FA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674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07283"/>
                </a:solidFill>
              </a:defRPr>
            </a:pPr>
            <a:r>
              <a:rPr sz="975" b="0">
                <a:solidFill>
                  <a:srgbClr val="607283"/>
                </a:solidFill>
              </a:rPr>
              <a:t>RxNorm ingredient codes are outside the IPS guide's recommended medication ValueSet.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F5872B-76D5-4FC3-A7F4-93AA58C2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28750"/>
            <a:ext cx="7639050" cy="4857750"/>
          </a:xfrm>
          <a:prstGeom xmlns:a="http://schemas.openxmlformats.org/drawingml/2006/main" prst="roundRect">
            <a:avLst>
              <a:gd name="adj" fmla="val 15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6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d6e2b08634ff0"/>
          <a:stretch xmlns:a="http://schemas.openxmlformats.org/drawingml/2006/main"/>
        </p:blipFill>
        <p:spPr>
          <a:xfrm xmlns:a="http://schemas.openxmlformats.org/drawingml/2006/main">
            <a:off x="4247567" y="1543050"/>
            <a:ext cx="6802016" cy="4629150"/>
          </a:xfrm>
          <a:prstGeom xmlns:a="http://schemas.openxmlformats.org/drawingml/2006/main" prst="roundRect">
            <a:avLst>
              <a:gd name="adj" fmla="val 1646"/>
            </a:avLst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EF6432-41DC-4DAB-8170-ACFF546E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10300"/>
            <a:ext cx="695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Structural/profile conformance for synthetic Bundles; not clinical or national certification.</a:t>
            </a:r>
          </a:p>
        </p:txBody>
      </p:sp>
    </p:spTree>
    <p:extLst>
      <p:ext uri="{BB962C8B-B14F-4D97-AF65-F5344CB8AC3E}">
        <p14:creationId xmlns:p14="http://schemas.microsoft.com/office/powerpoint/2010/main" val="9234962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467805-0F5B-4EE5-8918-88687CA8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D773D7-A033-46CF-A5F0-AE229E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CROSS-BORDER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CCACB-0C18-4EFD-998A-FA0DA59D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0BCDE-5F1B-49B7-9C54-3527BBB2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339B7-B4BC-4F8A-96D0-A93A45C5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3ECEE-F1C1-4ACD-A4D9-EED0D439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One machine-readable summary supports four receiver journeys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9519E-9AA7-4BA3-A406-2950932E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5B55"/>
                </a:solidFill>
              </a:defRPr>
            </a:pPr>
            <a:r>
              <a:rPr sz="1350" b="1">
                <a:solidFill>
                  <a:srgbClr val="075B55"/>
                </a:solidFill>
              </a:rPr>
              <a:t>USA → India · India → USA · Australia → Europe · Europe → USA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377f3cee4e4b9e"/>
          <a:stretch xmlns:a="http://schemas.openxmlformats.org/drawingml/2006/main"/>
        </p:blipFill>
        <p:spPr>
          <a:xfrm xmlns:a="http://schemas.openxmlformats.org/drawingml/2006/main">
            <a:off x="2855686" y="1600200"/>
            <a:ext cx="6480629" cy="4476750"/>
          </a:xfrm>
          <a:prstGeom xmlns:a="http://schemas.openxmlformats.org/drawingml/2006/main" prst="roundRect">
            <a:avLst>
              <a:gd name="adj" fmla="val 1702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5E3BD-D18F-4C3D-8A6B-996609EC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07283"/>
                </a:solidFill>
              </a:defRPr>
            </a:pPr>
            <a:r>
              <a:rPr sz="1125" b="1">
                <a:solidFill>
                  <a:srgbClr val="607283"/>
                </a:solidFill>
              </a:rPr>
              <a:t>The PDFs are readable renderings. The FHIR IPS Bundle remains the system-facing source of truth.</a:t>
            </a:r>
          </a:p>
        </p:txBody>
      </p:sp>
    </p:spTree>
    <p:extLst>
      <p:ext uri="{BB962C8B-B14F-4D97-AF65-F5344CB8AC3E}">
        <p14:creationId xmlns:p14="http://schemas.microsoft.com/office/powerpoint/2010/main" val="6427414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CE9798-3C53-4101-8AAC-1E99931A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50948-464D-42E9-ADFE-F822573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REPRODUCIBILITY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69A1B-2F51-4C8D-B08D-4BA7C387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6670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07283"/>
                </a:solidFill>
              </a:defRPr>
            </a:pPr>
            <a:r>
              <a:rPr sz="900" b="1">
                <a:solidFill>
                  <a:srgbClr val="607283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1CCBE-2BAD-419D-A598-B4319921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08842-36E0-4088-8FC1-FA0058B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81775"/>
            <a:ext cx="628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07283"/>
                </a:solidFill>
              </a:defRPr>
            </a:pPr>
            <a:r>
              <a:rPr sz="750" b="0">
                <a:solidFill>
                  <a:srgbClr val="607283"/>
                </a:solidFill>
              </a:rPr>
              <a:t>Cross-Border IPS AI Agent · HL7 AI Challenge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A4D77-B924-4480-9783-6C812B66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8242E"/>
                </a:solidFill>
              </a:defRPr>
            </a:pPr>
            <a:r>
              <a:rPr sz="2850" b="1">
                <a:solidFill>
                  <a:srgbClr val="18242E"/>
                </a:solidFill>
              </a:rPr>
              <a:t>The evidence is executable, downloadable, and reviewable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5EAA7-4FAD-4782-84E5-2E5CE994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15/15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99453-FCF0-42F8-84A0-1BD57079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669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frontend behavior and evidence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35AFE-0546-4A9F-A067-B22FD646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11/11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76727D-EAE6-4CE5-8F7B-4B9F2A8F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623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Python pipeline and FedAvg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A98BA-A573-4537-B295-C8707B39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7865C"/>
                </a:solidFill>
              </a:defRPr>
            </a:pPr>
            <a:r>
              <a:rPr sz="3150" b="1">
                <a:solidFill>
                  <a:srgbClr val="27865C"/>
                </a:solidFill>
              </a:rPr>
              <a:t>16/16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A0BF4-E5A3-486F-868B-A606AC71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283"/>
                </a:solidFill>
              </a:defRPr>
            </a:pPr>
            <a:r>
              <a:rPr sz="1125" b="0">
                <a:solidFill>
                  <a:srgbClr val="607283"/>
                </a:solidFill>
              </a:rPr>
              <a:t>route downloads click-tested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302522-D21B-4637-9A8B-B2CAA543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62100"/>
            <a:ext cx="70675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18242E"/>
          </a:solidFill>
          <a:ln xmlns:a="http://schemas.openxmlformats.org/drawingml/2006/main" w="9525">
            <a:solidFill>
              <a:srgbClr val="1824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45803-68F9-4D86-BB0F-82D68837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52625"/>
            <a:ext cx="62865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$ npm test -- --run</a:t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✓ 15 tests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$ PYTHONPATH=src pytest -q</a:t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✓ 11 tests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$ HL7 FHIR Validator + IPS 2.0.1</a:t>
            </a:r>
          </a:p>
          <a:p xmlns:a="http://schemas.openxmlformats.org/drawingml/2006/main">
            <a:pPr algn="l">
              <a:defRPr sz="1650" b="0">
                <a:solidFill>
                  <a:srgbClr val="DDF7EC"/>
                </a:solidFill>
              </a:defRPr>
            </a:pPr>
            <a:r>
              <a:rPr sz="1650" b="0">
                <a:solidFill>
                  <a:srgbClr val="DDF7EC"/>
                </a:solidFill>
              </a:rPr>
              <a:t>✓ 4 Bundles · 0 errors · 0 warnings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F21E88-8FC8-44CB-A102-F8495751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219700"/>
            <a:ext cx="619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GitHub includes the real PyTorch clients, FedAvg coordinator, benchmark JSON, Bundles, PDFs, screenshots, and unedited validator logs.</a:t>
            </a:r>
          </a:p>
        </p:txBody>
      </p:sp>
    </p:spTree>
    <p:extLst>
      <p:ext uri="{BB962C8B-B14F-4D97-AF65-F5344CB8AC3E}">
        <p14:creationId xmlns:p14="http://schemas.microsoft.com/office/powerpoint/2010/main" val="9816850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5B5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CA5288-0DCC-4E8E-8BE5-1212CFBE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FE1D6"/>
                </a:solidFill>
              </a:defRPr>
            </a:pPr>
            <a:r>
              <a:rPr sz="975" b="1">
                <a:solidFill>
                  <a:srgbClr val="9FE1D6"/>
                </a:solidFill>
              </a:rPr>
              <a:t>THE CLOSING CLAIM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359C87-FE17-4D92-86FB-82F97143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The standards do the traveling.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The reports stay local.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79156-7970-447C-A8ED-269D4146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6A62"/>
          </a:solidFill>
          <a:ln xmlns:a="http://schemas.openxmlformats.org/drawingml/2006/main" w="9525">
            <a:solidFill>
              <a:srgbClr val="3B9E9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95BD1-0F32-44B7-915E-E06CB914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Federated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D6AC1-8FC2-4905-9754-652277AA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552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F2ED"/>
                </a:solidFill>
              </a:defRPr>
            </a:pPr>
            <a:r>
              <a:rPr sz="1275" b="0">
                <a:solidFill>
                  <a:srgbClr val="D7F2ED"/>
                </a:solidFill>
              </a:rPr>
              <a:t>aligns local clinical terminology without centralizing raw reports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1C5DE-BECA-4CFB-B521-A71AA828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9146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6A62"/>
          </a:solidFill>
          <a:ln xmlns:a="http://schemas.openxmlformats.org/drawingml/2006/main" w="9525">
            <a:solidFill>
              <a:srgbClr val="3B9E9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D6EDD-14F6-49E2-8831-5EA16BE4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19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FHIR terminology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F7065-8157-4CD9-99A5-DDE632BE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95700"/>
            <a:ext cx="2552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F2ED"/>
                </a:solidFill>
              </a:defRPr>
            </a:pPr>
            <a:r>
              <a:rPr sz="1275" b="0">
                <a:solidFill>
                  <a:srgbClr val="D7F2ED"/>
                </a:solidFill>
              </a:rPr>
              <a:t>makes CodeSystem, ValueSet, ConceptMap, and validation evidence auditable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23D53-A9C8-43ED-B470-AB731CB6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6A62"/>
          </a:solidFill>
          <a:ln xmlns:a="http://schemas.openxmlformats.org/drawingml/2006/main" w="9525">
            <a:solidFill>
              <a:srgbClr val="3B9E9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884B2A-CB3E-45AF-B00B-BA1BF8EE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194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FHIR 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C15124-CF22-44F7-81E9-B090A5C3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2552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7F2ED"/>
                </a:solidFill>
              </a:defRPr>
            </a:pPr>
            <a:r>
              <a:rPr sz="1275" b="0">
                <a:solidFill>
                  <a:srgbClr val="D7F2ED"/>
                </a:solidFill>
              </a:rPr>
              <a:t>packages coded facts into a cross-border patient summary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6AB1E-0BB2-4C1C-967A-960AB438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FE1D6"/>
                </a:solidFill>
              </a:defRPr>
            </a:pPr>
            <a:r>
              <a:rPr sz="1200" b="1">
                <a:solidFill>
                  <a:srgbClr val="9FE1D6"/>
                </a:solidFill>
              </a:rPr>
              <a:t>Working demo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D664C-25C9-4C48-A432-0467B6C8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crossroad-fhir-link-three.vercel.app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D6F131-3AC6-4B91-BC09-DD5C7927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E1D6"/>
                </a:solidFill>
              </a:defRPr>
            </a:pPr>
            <a:r>
              <a:rPr sz="900" b="0">
                <a:solidFill>
                  <a:srgbClr val="9FE1D6"/>
                </a:solidFill>
              </a:rPr>
              <a:t>Synthetic prototype · readiness checks only · no formal privacy guarantee</a:t>
            </a:r>
          </a:p>
        </p:txBody>
      </p:sp>
    </p:spTree>
    <p:extLst>
      <p:ext uri="{BB962C8B-B14F-4D97-AF65-F5344CB8AC3E}">
        <p14:creationId xmlns:p14="http://schemas.microsoft.com/office/powerpoint/2010/main" val="14138912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2026-07-11T08:53:57.9460000Z</dcterms:created>
  <dcterms:modified xsi:type="dcterms:W3CDTF">2026-07-11T08:53:57.9460000Z</dcterms:modified>
</coreProperties>
</file>