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c1ecb89c4114dae" /><Relationship Type="http://schemas.openxmlformats.org/officeDocument/2006/relationships/extended-properties" Target="/docProps/app.xml" Id="R797993a615a84315" /><Relationship Type="http://schemas.openxmlformats.org/officeDocument/2006/relationships/officeDocument" Target="/ppt/presentation.xml" Id="R8e059f6e30d8427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fad656aef2d4fd9"/>
  </p:sldMasterIdLst>
  <p:notesMasterIdLst>
    <p:notesMasterId xmlns:r="http://schemas.openxmlformats.org/officeDocument/2006/relationships" r:id="R142da48f27164bf4"/>
  </p:notesMasterIdLst>
  <p:sldIdLst>
    <p:sldId xmlns:r="http://schemas.openxmlformats.org/officeDocument/2006/relationships" id="256" r:id="R1b96bfc8e46e42b5"/>
    <p:sldId xmlns:r="http://schemas.openxmlformats.org/officeDocument/2006/relationships" id="257" r:id="Raeaf84b357c04d66"/>
    <p:sldId xmlns:r="http://schemas.openxmlformats.org/officeDocument/2006/relationships" id="258" r:id="R6f58a3bbdbe44d77"/>
    <p:sldId xmlns:r="http://schemas.openxmlformats.org/officeDocument/2006/relationships" id="259" r:id="Rc3f2421838fb4e4b"/>
    <p:sldId xmlns:r="http://schemas.openxmlformats.org/officeDocument/2006/relationships" id="260" r:id="R7f03523f9bc84105"/>
    <p:sldId xmlns:r="http://schemas.openxmlformats.org/officeDocument/2006/relationships" id="261" r:id="R60b032471da14580"/>
    <p:sldId xmlns:r="http://schemas.openxmlformats.org/officeDocument/2006/relationships" id="262" r:id="R898dc85c344c4651"/>
    <p:sldId xmlns:r="http://schemas.openxmlformats.org/officeDocument/2006/relationships" id="263" r:id="R4508ba75334d448c"/>
    <p:sldId xmlns:r="http://schemas.openxmlformats.org/officeDocument/2006/relationships" id="264" r:id="R3d3d3df5144e41e5"/>
    <p:sldId xmlns:r="http://schemas.openxmlformats.org/officeDocument/2006/relationships" id="265" r:id="Ra05555899284461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523149c586c4a0b" /><Relationship Type="http://schemas.openxmlformats.org/officeDocument/2006/relationships/slideMaster" Target="/ppt/slideMasters/slideMaster1.xml" Id="R0fad656aef2d4fd9" /><Relationship Type="http://schemas.openxmlformats.org/officeDocument/2006/relationships/notesMaster" Target="/ppt/notesMasters/notesMaster1.xml" Id="R142da48f27164bf4" /><Relationship Type="http://schemas.openxmlformats.org/officeDocument/2006/relationships/presProps" Target="/ppt/presProps.xml" Id="R5347859296904ce5" /><Relationship Type="http://schemas.openxmlformats.org/officeDocument/2006/relationships/tableStyles" Target="/ppt/tableStyles.xml" Id="Rf57a3c3afece41f7" /><Relationship Type="http://schemas.openxmlformats.org/officeDocument/2006/relationships/slide" Target="/ppt/slides/slide1.xml" Id="R1b96bfc8e46e42b5" /><Relationship Type="http://schemas.openxmlformats.org/officeDocument/2006/relationships/slide" Target="/ppt/slides/slide2.xml" Id="Raeaf84b357c04d66" /><Relationship Type="http://schemas.openxmlformats.org/officeDocument/2006/relationships/slide" Target="/ppt/slides/slide3.xml" Id="R6f58a3bbdbe44d77" /><Relationship Type="http://schemas.openxmlformats.org/officeDocument/2006/relationships/slide" Target="/ppt/slides/slide4.xml" Id="Rc3f2421838fb4e4b" /><Relationship Type="http://schemas.openxmlformats.org/officeDocument/2006/relationships/slide" Target="/ppt/slides/slide5.xml" Id="R7f03523f9bc84105" /><Relationship Type="http://schemas.openxmlformats.org/officeDocument/2006/relationships/slide" Target="/ppt/slides/slide6.xml" Id="R60b032471da14580" /><Relationship Type="http://schemas.openxmlformats.org/officeDocument/2006/relationships/slide" Target="/ppt/slides/slide7.xml" Id="R898dc85c344c4651" /><Relationship Type="http://schemas.openxmlformats.org/officeDocument/2006/relationships/slide" Target="/ppt/slides/slide8.xml" Id="R4508ba75334d448c" /><Relationship Type="http://schemas.openxmlformats.org/officeDocument/2006/relationships/slide" Target="/ppt/slides/slide9.xml" Id="R3d3d3df5144e41e5" /><Relationship Type="http://schemas.openxmlformats.org/officeDocument/2006/relationships/slide" Target="/ppt/slides/slide10.xml" Id="Ra05555899284461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6faee79fda5484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0dc12a36bed4fe0" /><Relationship Type="http://schemas.openxmlformats.org/officeDocument/2006/relationships/notesMaster" Target="/ppt/notesMasters/notesMaster1.xml" Id="R957453fb5375421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40e8894470f4a72" /><Relationship Type="http://schemas.openxmlformats.org/officeDocument/2006/relationships/notesMaster" Target="/ppt/notesMasters/notesMaster1.xml" Id="R524eec2310964f6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eaf2b2eaceb4c9d" /><Relationship Type="http://schemas.openxmlformats.org/officeDocument/2006/relationships/notesMaster" Target="/ppt/notesMasters/notesMaster1.xml" Id="R8e4c8e3d6cf54e6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2b21d77ab754a22" /><Relationship Type="http://schemas.openxmlformats.org/officeDocument/2006/relationships/notesMaster" Target="/ppt/notesMasters/notesMaster1.xml" Id="Rf89192d9c1734e5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11a4e0aa79241dd" /><Relationship Type="http://schemas.openxmlformats.org/officeDocument/2006/relationships/notesMaster" Target="/ppt/notesMasters/notesMaster1.xml" Id="R9d3aea275adb491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fbce956b1094426" /><Relationship Type="http://schemas.openxmlformats.org/officeDocument/2006/relationships/notesMaster" Target="/ppt/notesMasters/notesMaster1.xml" Id="Rbf7fd9ae77664e0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844052cd62e41c3" /><Relationship Type="http://schemas.openxmlformats.org/officeDocument/2006/relationships/notesMaster" Target="/ppt/notesMasters/notesMaster1.xml" Id="Rd56448c26bcb489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541830f65a246a7" /><Relationship Type="http://schemas.openxmlformats.org/officeDocument/2006/relationships/notesMaster" Target="/ppt/notesMasters/notesMaster1.xml" Id="R9348d62244324f2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cc35060d59d4e9e" /><Relationship Type="http://schemas.openxmlformats.org/officeDocument/2006/relationships/notesMaster" Target="/ppt/notesMasters/notesMaster1.xml" Id="R72fafbc71904453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492a80f9afc4acc" /><Relationship Type="http://schemas.openxmlformats.org/officeDocument/2006/relationships/notesMaster" Target="/ppt/notesMasters/notesMaster1.xml" Id="R48ef5ae125e1434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0d9f8cdcb3466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3d1ad74b3c94049" /><Relationship Type="http://schemas.openxmlformats.org/officeDocument/2006/relationships/slideLayout" Target="/ppt/slideLayouts/slideLayout1.xml" Id="Ra665a8608aff418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65a8608aff418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f8d3ad4dc4445b" /><Relationship Type="http://schemas.openxmlformats.org/officeDocument/2006/relationships/image" Target="/ppt/media/image.jpeg" Id="R55efdd49af8e4b1d" /><Relationship Type="http://schemas.openxmlformats.org/officeDocument/2006/relationships/notesSlide" Target="/ppt/notesSlides/notesSlide1.xml" Id="R7f740dc4d0f5453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65a30a5fce4800" /><Relationship Type="http://schemas.openxmlformats.org/officeDocument/2006/relationships/notesSlide" Target="/ppt/notesSlides/notesSlide2.xml" Id="R702a74620749425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fac200754e4c57" /><Relationship Type="http://schemas.openxmlformats.org/officeDocument/2006/relationships/image" Target="/ppt/media/image.png" Id="R351393c3b74c48dd" /><Relationship Type="http://schemas.openxmlformats.org/officeDocument/2006/relationships/image" Target="/ppt/media/image2.png" Id="Rfb3855a572274eb2" /><Relationship Type="http://schemas.openxmlformats.org/officeDocument/2006/relationships/notesSlide" Target="/ppt/notesSlides/notesSlide3.xml" Id="Rfdd058cf4aca49c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51b551e3ab45d2" /><Relationship Type="http://schemas.openxmlformats.org/officeDocument/2006/relationships/image" Target="/ppt/media/image3.png" Id="Re19f02857b1d4ff2" /><Relationship Type="http://schemas.openxmlformats.org/officeDocument/2006/relationships/notesSlide" Target="/ppt/notesSlides/notesSlide4.xml" Id="R6ac25b070e9e403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e9f4c0f4734544" /><Relationship Type="http://schemas.openxmlformats.org/officeDocument/2006/relationships/image" Target="/ppt/media/image2.jpeg" Id="Ra291db3d90914cb0" /><Relationship Type="http://schemas.openxmlformats.org/officeDocument/2006/relationships/notesSlide" Target="/ppt/notesSlides/notesSlide5.xml" Id="Rc251a033832a483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0a87a41ea44a78" /><Relationship Type="http://schemas.openxmlformats.org/officeDocument/2006/relationships/image" Target="/ppt/media/image3.jpeg" Id="Rf8be720f030146c8" /><Relationship Type="http://schemas.openxmlformats.org/officeDocument/2006/relationships/notesSlide" Target="/ppt/notesSlides/notesSlide6.xml" Id="Rbd0f384e79ae4f6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e6cbe6c298494b" /><Relationship Type="http://schemas.openxmlformats.org/officeDocument/2006/relationships/image" Target="/ppt/media/image4.jpeg" Id="Ra4318a5d63bd4c85" /><Relationship Type="http://schemas.openxmlformats.org/officeDocument/2006/relationships/notesSlide" Target="/ppt/notesSlides/notesSlide7.xml" Id="R8bcf6e8a194140a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e5290e2d834431" /><Relationship Type="http://schemas.openxmlformats.org/officeDocument/2006/relationships/image" Target="/ppt/media/image4.png" Id="R54c5c16395ef4d49" /><Relationship Type="http://schemas.openxmlformats.org/officeDocument/2006/relationships/notesSlide" Target="/ppt/notesSlides/notesSlide8.xml" Id="Rfcf0744307e44cf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3b66581fe94b94" /><Relationship Type="http://schemas.openxmlformats.org/officeDocument/2006/relationships/notesSlide" Target="/ppt/notesSlides/notesSlide9.xml" Id="Rf7bb330daab043a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b188b8cd524199" /><Relationship Type="http://schemas.openxmlformats.org/officeDocument/2006/relationships/notesSlide" Target="/ppt/notesSlides/notesSlide10.xml" Id="Rb5c8f980163d435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3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A3C446C-805D-4A4A-A409-26566C2D2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B217F0-2732-42F7-ADCF-D98F192AC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766E"/>
                </a:solidFill>
              </a:defRPr>
            </a:pPr>
            <a:r>
              <a:rPr sz="1050" b="1">
                <a:solidFill>
                  <a:srgbClr val="0F766E"/>
                </a:solidFill>
              </a:rPr>
              <a:t>HL7 AI CHALLENGE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CAADFA-9034-4330-B67B-383563F66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162050"/>
            <a:ext cx="44767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8242E"/>
                </a:solidFill>
              </a:defRPr>
            </a:pPr>
            <a:r>
              <a:rPr sz="4050" b="1">
                <a:solidFill>
                  <a:srgbClr val="18242E"/>
                </a:solidFill>
              </a:rPr>
              <a:t>Cross-Border</a:t>
            </a:r>
          </a:p>
          <a:p xmlns:a="http://schemas.openxmlformats.org/drawingml/2006/main">
            <a:pPr algn="l">
              <a:defRPr sz="4050" b="1">
                <a:solidFill>
                  <a:srgbClr val="18242E"/>
                </a:solidFill>
              </a:defRPr>
            </a:pPr>
            <a:r>
              <a:rPr sz="4050" b="1">
                <a:solidFill>
                  <a:srgbClr val="18242E"/>
                </a:solidFill>
              </a:rPr>
              <a:t>IPS AI Agent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D728CD-909D-40EB-8759-E273D1E2E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52750"/>
            <a:ext cx="4286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607283"/>
                </a:solidFill>
              </a:defRPr>
            </a:pPr>
            <a:r>
              <a:rPr sz="1725" b="0">
                <a:solidFill>
                  <a:srgbClr val="607283"/>
                </a:solidFill>
              </a:rPr>
              <a:t>Federated, FHIR-native terminology alignment for cross-border Type 2 diabetes summaries.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987F70-26D8-4143-A4C0-0EC7FF0CF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76750"/>
            <a:ext cx="4095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A95949-C2CF-4267-8FAB-A68B00427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95825"/>
            <a:ext cx="4286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75B55"/>
                </a:solidFill>
              </a:defRPr>
            </a:pPr>
            <a:r>
              <a:rPr sz="1350" b="1">
                <a:solidFill>
                  <a:srgbClr val="075B55"/>
                </a:solidFill>
              </a:rPr>
              <a:t>FHIR IPS is the interoperable artifact.</a:t>
            </a:r>
          </a:p>
          <a:p xmlns:a="http://schemas.openxmlformats.org/drawingml/2006/main">
            <a:pPr algn="l">
              <a:defRPr sz="1350" b="1">
                <a:solidFill>
                  <a:srgbClr val="075B55"/>
                </a:solidFill>
              </a:defRPr>
            </a:pPr>
            <a:r>
              <a:rPr sz="1350" b="1">
                <a:solidFill>
                  <a:srgbClr val="075B55"/>
                </a:solidFill>
              </a:rPr>
              <a:t>PDFs are human-readable renderings.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B0E2E1-E26F-49D9-B57C-CF6E95B43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76250"/>
            <a:ext cx="6191250" cy="5619750"/>
          </a:xfrm>
          <a:prstGeom xmlns:a="http://schemas.openxmlformats.org/drawingml/2006/main" prst="roundRect">
            <a:avLst>
              <a:gd name="adj" fmla="val 13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6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efdd49af8e4b1d"/>
          <a:srcRect xmlns:a="http://schemas.openxmlformats.org/drawingml/2006/main" l="11597" t="0" r="1159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05450" y="590550"/>
            <a:ext cx="5962650" cy="5391150"/>
          </a:xfrm>
          <a:prstGeom xmlns:a="http://schemas.openxmlformats.org/drawingml/2006/main" prst="roundRect">
            <a:avLst>
              <a:gd name="adj" fmla="val 1413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7C65A0-0F9F-4F13-9911-96A67BC08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912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07283"/>
                </a:solidFill>
              </a:defRPr>
            </a:pPr>
            <a:r>
              <a:rPr sz="975" b="0">
                <a:solidFill>
                  <a:srgbClr val="607283"/>
                </a:solidFill>
              </a:rPr>
              <a:t>Working demo · synthetic evidence · official IPS 2.0.1 validation</a:t>
            </a:r>
          </a:p>
        </p:txBody>
      </p:sp>
    </p:spTree>
    <p:extLst>
      <p:ext uri="{BB962C8B-B14F-4D97-AF65-F5344CB8AC3E}">
        <p14:creationId xmlns:p14="http://schemas.microsoft.com/office/powerpoint/2010/main" val="16439715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00CCEB7-0966-4732-86E2-95BC3E5C0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7F4217-1E8D-4570-B641-A19E85DD3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766E"/>
                </a:solidFill>
              </a:defRPr>
            </a:pPr>
            <a:r>
              <a:rPr sz="900" b="1">
                <a:solidFill>
                  <a:srgbClr val="0F766E"/>
                </a:solidFill>
              </a:rPr>
              <a:t>PROBLEM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6D4560-6167-4FEE-A359-A86F53049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26670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07283"/>
                </a:solidFill>
              </a:defRPr>
            </a:pPr>
            <a:r>
              <a:rPr sz="900" b="1">
                <a:solidFill>
                  <a:srgbClr val="607283"/>
                </a:solidFill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7A8971-0E57-42D5-942F-18329B9C9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91EF8F-F202-4D76-83D7-EF075D574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81775"/>
            <a:ext cx="628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07283"/>
                </a:solidFill>
              </a:defRPr>
            </a:pPr>
            <a:r>
              <a:rPr sz="750" b="0">
                <a:solidFill>
                  <a:srgbClr val="607283"/>
                </a:solidFill>
              </a:rPr>
              <a:t>Cross-Border IPS AI Agent · HL7 AI Challenge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14BE03-9F34-4867-B37C-0FBF8420A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10668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8242E"/>
                </a:solidFill>
              </a:defRPr>
            </a:pPr>
            <a:r>
              <a:rPr sz="2850" b="1">
                <a:solidFill>
                  <a:srgbClr val="18242E"/>
                </a:solidFill>
              </a:rPr>
              <a:t>One condition arrives under many local names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4F6DF3-4A1A-435E-A73C-38F59FA82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811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07283"/>
                </a:solidFill>
              </a:defRPr>
            </a:pPr>
            <a:r>
              <a:rPr sz="975" b="1">
                <a:solidFill>
                  <a:srgbClr val="607283"/>
                </a:solidFill>
              </a:rPr>
              <a:t>USA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C49E47-3746-4F1F-BC15-5BE925B5E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1552575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42E"/>
                </a:solidFill>
              </a:defRPr>
            </a:pPr>
            <a:r>
              <a:rPr sz="1800" b="1">
                <a:solidFill>
                  <a:srgbClr val="18242E"/>
                </a:solidFill>
              </a:rPr>
              <a:t>T2DM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CF5F60-33CC-47CC-A098-6655D0597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622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07283"/>
                </a:solidFill>
              </a:defRPr>
            </a:pPr>
            <a:r>
              <a:rPr sz="975" b="1">
                <a:solidFill>
                  <a:srgbClr val="607283"/>
                </a:solidFill>
              </a:rPr>
              <a:t>India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62713A-1DEA-4642-BE9B-05251790E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333625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42E"/>
                </a:solidFill>
              </a:defRPr>
            </a:pPr>
            <a:r>
              <a:rPr sz="1800" b="1">
                <a:solidFill>
                  <a:srgbClr val="18242E"/>
                </a:solidFill>
              </a:rPr>
              <a:t>sugar disease · madhumeha type 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402986-1C9F-4001-BE7D-AF2A0B94C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432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07283"/>
                </a:solidFill>
              </a:defRPr>
            </a:pPr>
            <a:r>
              <a:rPr sz="975" b="1">
                <a:solidFill>
                  <a:srgbClr val="607283"/>
                </a:solidFill>
              </a:rPr>
              <a:t>Australia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96EA4C-B241-49B5-A440-188460522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114675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42E"/>
                </a:solidFill>
              </a:defRPr>
            </a:pPr>
            <a:r>
              <a:rPr sz="1800" b="1">
                <a:solidFill>
                  <a:srgbClr val="18242E"/>
                </a:solidFill>
              </a:rPr>
              <a:t>type 2 DM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0B91FC-E5A5-465B-96F3-E572E2E7F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243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07283"/>
                </a:solidFill>
              </a:defRPr>
            </a:pPr>
            <a:r>
              <a:rPr sz="975" b="1">
                <a:solidFill>
                  <a:srgbClr val="607283"/>
                </a:solidFill>
              </a:rPr>
              <a:t>Europe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5938E6-B035-417E-91EC-4644139F1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895725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42E"/>
                </a:solidFill>
              </a:defRPr>
            </a:pPr>
            <a:r>
              <a:rPr sz="1800" b="1">
                <a:solidFill>
                  <a:srgbClr val="18242E"/>
                </a:solidFill>
              </a:rPr>
              <a:t>DM2 · diabetes mellitus type II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13EED4-68FB-4BB0-B74C-4CCC5410E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714625"/>
            <a:ext cx="762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0F766E"/>
                </a:solidFill>
              </a:defRPr>
            </a:pPr>
            <a:r>
              <a:rPr sz="3600" b="1">
                <a:solidFill>
                  <a:srgbClr val="0F766E"/>
                </a:solidFill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02C9D7-8EAD-43FF-9AB2-1F5F03680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857375"/>
            <a:ext cx="4476750" cy="26670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E6F4F1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D7FA00-8E36-4E0A-A66A-70F4B47A8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20980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766E"/>
                </a:solidFill>
              </a:defRPr>
            </a:pPr>
            <a:r>
              <a:rPr sz="1050" b="1">
                <a:solidFill>
                  <a:srgbClr val="0F766E"/>
                </a:solidFill>
              </a:rPr>
              <a:t>Canonical meaning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14168D-DCDB-4A81-B737-4E8C512D6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647950"/>
            <a:ext cx="3714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8242E"/>
                </a:solidFill>
              </a:defRPr>
            </a:pPr>
            <a:r>
              <a:rPr sz="2250" b="1">
                <a:solidFill>
                  <a:srgbClr val="18242E"/>
                </a:solidFill>
              </a:rPr>
              <a:t>Type 2 diabetes mellitus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E52147-086E-4B6C-9721-8EEAACDA7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56235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75B55"/>
                </a:solidFill>
              </a:defRPr>
            </a:pPr>
            <a:r>
              <a:rPr sz="1425" b="1">
                <a:solidFill>
                  <a:srgbClr val="075B55"/>
                </a:solidFill>
              </a:rPr>
              <a:t>SNOMED CT 44054006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F3A346-30BC-455E-AEC8-3D02816EA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9433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A9"/>
                </a:solidFill>
              </a:defRPr>
            </a:pPr>
            <a:r>
              <a:rPr sz="1350" b="1">
                <a:solidFill>
                  <a:srgbClr val="2563A9"/>
                </a:solidFill>
              </a:rPr>
              <a:t>ICD-10 E11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E50639-4F0A-42F8-8605-76A6AC6BE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619750"/>
            <a:ext cx="1038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8242E"/>
                </a:solidFill>
              </a:defRPr>
            </a:pPr>
            <a:r>
              <a:rPr sz="1500" b="1">
                <a:solidFill>
                  <a:srgbClr val="18242E"/>
                </a:solidFill>
              </a:rPr>
              <a:t>Without semantic alignment, a receiver EHR gets ambiguous text instead of computable clinical data.</a:t>
            </a:r>
          </a:p>
        </p:txBody>
      </p:sp>
    </p:spTree>
    <p:extLst>
      <p:ext uri="{BB962C8B-B14F-4D97-AF65-F5344CB8AC3E}">
        <p14:creationId xmlns:p14="http://schemas.microsoft.com/office/powerpoint/2010/main" val="140683749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816477F-8F01-4BC0-A65F-36901F1BE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2EFF28-ACA1-4AC8-8723-9E1F90EFC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766E"/>
                </a:solidFill>
              </a:defRPr>
            </a:pPr>
            <a:r>
              <a:rPr sz="900" b="1">
                <a:solidFill>
                  <a:srgbClr val="0F766E"/>
                </a:solidFill>
              </a:rPr>
              <a:t>OBJECTIVE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6DFFAC-43E0-46B5-A2CA-73F92419B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26670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07283"/>
                </a:solidFill>
              </a:defRPr>
            </a:pPr>
            <a:r>
              <a:rPr sz="900" b="1">
                <a:solidFill>
                  <a:srgbClr val="607283"/>
                </a:solidFill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816C0D-93DD-4549-9BEE-D3492E4A2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82C1E6-F61E-4492-A2CF-4278EA872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81775"/>
            <a:ext cx="628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07283"/>
                </a:solidFill>
              </a:defRPr>
            </a:pPr>
            <a:r>
              <a:rPr sz="750" b="0">
                <a:solidFill>
                  <a:srgbClr val="607283"/>
                </a:solidFill>
              </a:rPr>
              <a:t>Cross-Border IPS AI Agent · HL7 AI Challenge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723594-80FB-4A54-9CDC-83BFBB1FC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10668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8242E"/>
                </a:solidFill>
              </a:defRPr>
            </a:pPr>
            <a:r>
              <a:rPr sz="2850" b="1">
                <a:solidFill>
                  <a:srgbClr val="18242E"/>
                </a:solidFill>
              </a:rPr>
              <a:t>FHIR IPS is the artifact that crosses the border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1393c3b74c48dd"/>
          <a:stretch xmlns:a="http://schemas.openxmlformats.org/drawingml/2006/main"/>
        </p:blipFill>
        <p:spPr>
          <a:xfrm xmlns:a="http://schemas.openxmlformats.org/drawingml/2006/main">
            <a:off x="666750" y="1843871"/>
            <a:ext cx="2476500" cy="3503634"/>
          </a:xfrm>
          <a:prstGeom xmlns:a="http://schemas.openxmlformats.org/drawingml/2006/main" prst="roundRect">
            <a:avLst>
              <a:gd name="adj" fmla="val 3077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3052F4-C332-48CC-A866-D5BA9A18B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8102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07283"/>
                </a:solidFill>
              </a:defRPr>
            </a:pPr>
            <a:r>
              <a:rPr sz="1200" b="1">
                <a:solidFill>
                  <a:srgbClr val="607283"/>
                </a:solidFill>
              </a:rPr>
              <a:t>Human input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C80B5B-D21E-4F29-8B87-2458EE9FE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143250"/>
            <a:ext cx="66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0F766E"/>
                </a:solidFill>
              </a:defRPr>
            </a:pPr>
            <a:r>
              <a:rPr sz="3150" b="1">
                <a:solidFill>
                  <a:srgbClr val="0F766E"/>
                </a:solidFill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2C4C90-83B1-4890-8AF1-2722BCDC9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133600"/>
            <a:ext cx="400050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E6F4F1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F4E737-B674-41E7-AE55-11E82FFE9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457450"/>
            <a:ext cx="333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625" b="1">
                <a:solidFill>
                  <a:srgbClr val="075B55"/>
                </a:solidFill>
              </a:defRPr>
            </a:pPr>
            <a:r>
              <a:rPr sz="2625" b="1">
                <a:solidFill>
                  <a:srgbClr val="075B55"/>
                </a:solidFill>
              </a:rPr>
              <a:t>HL7 FHIR IPS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F06AC2-59CA-4A99-8110-06A1ABDFE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162300"/>
            <a:ext cx="2952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42E"/>
                </a:solidFill>
              </a:defRPr>
            </a:pPr>
            <a:r>
              <a:rPr sz="1500" b="1">
                <a:solidFill>
                  <a:srgbClr val="18242E"/>
                </a:solidFill>
              </a:rPr>
              <a:t>Bundle.type = document</a:t>
            </a:r>
          </a:p>
          <a:p xmlns:a="http://schemas.openxmlformats.org/drawingml/2006/main">
            <a:pPr algn="ctr">
              <a:defRPr sz="1500" b="1">
                <a:solidFill>
                  <a:srgbClr val="18242E"/>
                </a:solidFill>
              </a:defRPr>
            </a:pPr>
            <a:r>
              <a:rPr sz="1500" b="1">
                <a:solidFill>
                  <a:srgbClr val="18242E"/>
                </a:solidFill>
              </a:rPr>
              <a:t>Composition first</a:t>
            </a:r>
          </a:p>
          <a:p xmlns:a="http://schemas.openxmlformats.org/drawingml/2006/main">
            <a:pPr algn="ctr">
              <a:defRPr sz="1500" b="1">
                <a:solidFill>
                  <a:srgbClr val="18242E"/>
                </a:solidFill>
              </a:defRPr>
            </a:pPr>
            <a:r>
              <a:rPr sz="1500" b="1">
                <a:solidFill>
                  <a:srgbClr val="18242E"/>
                </a:solidFill>
              </a:rPr>
              <a:t>Coded clinical resources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DEECFC-6163-4B27-AFE1-430B0B41A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43250"/>
            <a:ext cx="66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0F766E"/>
                </a:solidFill>
              </a:defRPr>
            </a:pPr>
            <a:r>
              <a:rPr sz="3150" b="1">
                <a:solidFill>
                  <a:srgbClr val="0F766E"/>
                </a:solidFill>
              </a:rPr>
              <a:t>→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3855a572274eb2"/>
          <a:stretch xmlns:a="http://schemas.openxmlformats.org/drawingml/2006/main"/>
        </p:blipFill>
        <p:spPr>
          <a:xfrm xmlns:a="http://schemas.openxmlformats.org/drawingml/2006/main">
            <a:off x="9029700" y="1843871"/>
            <a:ext cx="2476500" cy="3503634"/>
          </a:xfrm>
          <a:prstGeom xmlns:a="http://schemas.openxmlformats.org/drawingml/2006/main" prst="roundRect">
            <a:avLst>
              <a:gd name="adj" fmla="val 3077"/>
            </a:avLst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130F6A-853D-4F2D-88F7-A1AC23348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8102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07283"/>
                </a:solidFill>
              </a:defRPr>
            </a:pPr>
            <a:r>
              <a:rPr sz="1200" b="1">
                <a:solidFill>
                  <a:srgbClr val="607283"/>
                </a:solidFill>
              </a:rPr>
              <a:t>Human receiver view</a:t>
            </a:r>
          </a:p>
        </p:txBody>
      </p:sp>
    </p:spTree>
    <p:extLst>
      <p:ext uri="{BB962C8B-B14F-4D97-AF65-F5344CB8AC3E}">
        <p14:creationId xmlns:p14="http://schemas.microsoft.com/office/powerpoint/2010/main" val="183790731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70F2924-6CF8-4F61-9467-559FD73CC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05573C-8EA6-43BE-9F27-1B93C50B2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766E"/>
                </a:solidFill>
              </a:defRPr>
            </a:pPr>
            <a:r>
              <a:rPr sz="900" b="1">
                <a:solidFill>
                  <a:srgbClr val="0F766E"/>
                </a:solidFill>
              </a:rPr>
              <a:t>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25205E-5CC8-4C4C-B071-2F38B4732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26670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07283"/>
                </a:solidFill>
              </a:defRPr>
            </a:pPr>
            <a:r>
              <a:rPr sz="900" b="1">
                <a:solidFill>
                  <a:srgbClr val="607283"/>
                </a:solidFill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5F77D1-97AC-44F9-A54D-890FE522B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291083-5302-4D37-BA11-A62F94248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81775"/>
            <a:ext cx="628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07283"/>
                </a:solidFill>
              </a:defRPr>
            </a:pPr>
            <a:r>
              <a:rPr sz="750" b="0">
                <a:solidFill>
                  <a:srgbClr val="607283"/>
                </a:solidFill>
              </a:rPr>
              <a:t>Cross-Border IPS AI Agent · HL7 AI Challenge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87B4D2-D1B1-4B5F-8A37-B6C856CE5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10668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8242E"/>
                </a:solidFill>
              </a:defRPr>
            </a:pPr>
            <a:r>
              <a:rPr sz="2850" b="1">
                <a:solidFill>
                  <a:srgbClr val="18242E"/>
                </a:solidFill>
              </a:rPr>
              <a:t>Every transformation remains inspectable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111E5B-F6AF-4349-B79B-A1BA4F991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57300"/>
            <a:ext cx="1057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07283"/>
                </a:solidFill>
              </a:defRPr>
            </a:pPr>
            <a:r>
              <a:rPr sz="1275" b="0">
                <a:solidFill>
                  <a:srgbClr val="607283"/>
                </a:solidFill>
              </a:rPr>
              <a:t>The registry is deterministic; the federated linker is used only on misses; FHIR terminology validates and publishes the mapping.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9f02857b1d4ff2"/>
          <a:stretch xmlns:a="http://schemas.openxmlformats.org/drawingml/2006/main"/>
        </p:blipFill>
        <p:spPr>
          <a:xfrm xmlns:a="http://schemas.openxmlformats.org/drawingml/2006/main">
            <a:off x="2625498" y="1657350"/>
            <a:ext cx="6874329" cy="4572000"/>
          </a:xfrm>
          <a:prstGeom xmlns:a="http://schemas.openxmlformats.org/drawingml/2006/main" prst="roundRect">
            <a:avLst>
              <a:gd name="adj" fmla="val 1667"/>
            </a:avLst>
          </a:prstGeom>
        </p:spPr>
      </p:pic>
    </p:spTree>
    <p:extLst>
      <p:ext uri="{BB962C8B-B14F-4D97-AF65-F5344CB8AC3E}">
        <p14:creationId xmlns:p14="http://schemas.microsoft.com/office/powerpoint/2010/main" val="88800923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15188EE-725A-4A85-A1E1-9C65A4269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14B9E6-E279-4C0E-9E2E-0D1A95B42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766E"/>
                </a:solidFill>
              </a:defRPr>
            </a:pPr>
            <a:r>
              <a:rPr sz="900" b="1">
                <a:solidFill>
                  <a:srgbClr val="0F766E"/>
                </a:solidFill>
              </a:rPr>
              <a:t>FEDERATED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8C8644-6504-4D1F-A3F1-BF6EA26D2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26670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07283"/>
                </a:solidFill>
              </a:defRPr>
            </a:pPr>
            <a:r>
              <a:rPr sz="900" b="1">
                <a:solidFill>
                  <a:srgbClr val="607283"/>
                </a:solidFill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D4359D-00F9-4903-AF20-094340000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904092-8941-4A21-A256-86B30D2A6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81775"/>
            <a:ext cx="628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07283"/>
                </a:solidFill>
              </a:defRPr>
            </a:pPr>
            <a:r>
              <a:rPr sz="750" b="0">
                <a:solidFill>
                  <a:srgbClr val="607283"/>
                </a:solidFill>
              </a:rPr>
              <a:t>Cross-Border IPS AI Agent · HL7 AI Challenge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FD0D82-9272-4C08-B276-4617DFDBC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10668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8242E"/>
                </a:solidFill>
              </a:defRPr>
            </a:pPr>
            <a:r>
              <a:rPr sz="2850" b="1">
                <a:solidFill>
                  <a:srgbClr val="18242E"/>
                </a:solidFill>
              </a:rPr>
              <a:t>Five seeds reproduce the cross-site gain without moving reports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B3D9AD-9881-446B-8689-B9E0BFD63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9545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7865C"/>
                </a:solidFill>
              </a:defRPr>
            </a:pPr>
            <a:r>
              <a:rPr sz="3150" b="1">
                <a:solidFill>
                  <a:srgbClr val="27865C"/>
                </a:solidFill>
              </a:rPr>
              <a:t>48/48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52864C-F872-4E41-AAC6-03504F055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47900"/>
            <a:ext cx="257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283"/>
                </a:solidFill>
              </a:defRPr>
            </a:pPr>
            <a:r>
              <a:rPr sz="1125" b="0">
                <a:solidFill>
                  <a:srgbClr val="607283"/>
                </a:solidFill>
              </a:rPr>
              <a:t>federated transfer at all 5 seeds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701F09-7323-4595-84C9-83CBA9E3A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8242E"/>
                </a:solidFill>
              </a:defRPr>
            </a:pPr>
            <a:r>
              <a:rPr sz="3150" b="1">
                <a:solidFill>
                  <a:srgbClr val="18242E"/>
                </a:solidFill>
              </a:rPr>
              <a:t>47/48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698262-1093-48BD-8E5E-C06C55A1E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29000"/>
            <a:ext cx="257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283"/>
                </a:solidFill>
              </a:defRPr>
            </a:pPr>
            <a:r>
              <a:rPr sz="1125" b="0">
                <a:solidFill>
                  <a:srgbClr val="607283"/>
                </a:solidFill>
              </a:rPr>
              <a:t>local-only transfer at all 5 seeds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DB630B-D774-4E46-850F-A39FF47B4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5765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F766E"/>
                </a:solidFill>
              </a:defRPr>
            </a:pPr>
            <a:r>
              <a:rPr sz="3150" b="1">
                <a:solidFill>
                  <a:srgbClr val="0F766E"/>
                </a:solidFill>
              </a:rPr>
              <a:t>+1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0C624A-BACD-4328-AC16-A131EC362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10100"/>
            <a:ext cx="257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283"/>
                </a:solidFill>
              </a:defRPr>
            </a:pPr>
            <a:r>
              <a:rPr sz="1125" b="0">
                <a:solidFill>
                  <a:srgbClr val="607283"/>
                </a:solidFill>
              </a:rPr>
              <a:t>measured gain per seed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29353E-36D1-4883-BC6F-0BC30F158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578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42E"/>
                </a:solidFill>
              </a:defRPr>
            </a:pPr>
            <a:r>
              <a:rPr sz="1200" b="1">
                <a:solidFill>
                  <a:srgbClr val="18242E"/>
                </a:solidFill>
              </a:rPr>
              <a:t>20/20 receiver-seed checks were non-regressive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B286C0-9C99-4B9B-AC74-A5B641208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531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66B00"/>
                </a:solidFill>
              </a:defRPr>
            </a:pPr>
            <a:r>
              <a:rPr sz="975" b="1">
                <a:solidFill>
                  <a:srgbClr val="B66B00"/>
                </a:solidFill>
              </a:rPr>
              <a:t>1.88 MiB five-round tensor traffic. Synthetic study; not clinical accuracy.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CD2249-24D6-4E26-87F6-556D8FA29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1504950"/>
            <a:ext cx="7410450" cy="4619625"/>
          </a:xfrm>
          <a:prstGeom xmlns:a="http://schemas.openxmlformats.org/drawingml/2006/main" prst="roundRect">
            <a:avLst>
              <a:gd name="adj" fmla="val 16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6"/>
            </a:solidFill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91db3d90914cb0"/>
          <a:stretch xmlns:a="http://schemas.openxmlformats.org/drawingml/2006/main"/>
        </p:blipFill>
        <p:spPr>
          <a:xfrm xmlns:a="http://schemas.openxmlformats.org/drawingml/2006/main">
            <a:off x="6073004" y="1619250"/>
            <a:ext cx="3379743" cy="4391025"/>
          </a:xfrm>
          <a:prstGeom xmlns:a="http://schemas.openxmlformats.org/drawingml/2006/main" prst="roundRect">
            <a:avLst>
              <a:gd name="adj" fmla="val 1735"/>
            </a:avLst>
          </a:prstGeom>
        </p:spPr>
      </p:pic>
    </p:spTree>
    <p:extLst>
      <p:ext uri="{BB962C8B-B14F-4D97-AF65-F5344CB8AC3E}">
        <p14:creationId xmlns:p14="http://schemas.microsoft.com/office/powerpoint/2010/main" val="116634732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0F9F8CE-E24A-4C33-A5AB-D04BC8C77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C70ABD-8106-4465-B46C-7594DFD01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766E"/>
                </a:solidFill>
              </a:defRPr>
            </a:pPr>
            <a:r>
              <a:rPr sz="900" b="1">
                <a:solidFill>
                  <a:srgbClr val="0F766E"/>
                </a:solidFill>
              </a:rPr>
              <a:t>FHIR-NATIVE LINKER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951B9F-D421-4216-B149-5741FCB2C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26670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07283"/>
                </a:solidFill>
              </a:defRPr>
            </a:pPr>
            <a:r>
              <a:rPr sz="900" b="1">
                <a:solidFill>
                  <a:srgbClr val="607283"/>
                </a:solidFill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6278C6-16A1-42D1-B5EE-5E4D3E129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5014C0-D560-44F2-A200-E355EA7E5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81775"/>
            <a:ext cx="628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07283"/>
                </a:solidFill>
              </a:defRPr>
            </a:pPr>
            <a:r>
              <a:rPr sz="750" b="0">
                <a:solidFill>
                  <a:srgbClr val="607283"/>
                </a:solidFill>
              </a:rPr>
              <a:t>Cross-Border IPS AI Agent · HL7 AI Challenge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03F9CD-4106-4BB0-900E-F68E77B53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10668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8242E"/>
                </a:solidFill>
              </a:defRPr>
            </a:pPr>
            <a:r>
              <a:rPr sz="2850" b="1">
                <a:solidFill>
                  <a:srgbClr val="18242E"/>
                </a:solidFill>
              </a:rPr>
              <a:t>FHIR turns an AI prediction into an auditable mapping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F071B3-C00F-4CB5-A533-50F491465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28750"/>
            <a:ext cx="7239000" cy="4714875"/>
          </a:xfrm>
          <a:prstGeom xmlns:a="http://schemas.openxmlformats.org/drawingml/2006/main" prst="roundRect">
            <a:avLst>
              <a:gd name="adj" fmla="val 16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6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be720f030146c8"/>
          <a:stretch xmlns:a="http://schemas.openxmlformats.org/drawingml/2006/main"/>
        </p:blipFill>
        <p:spPr>
          <a:xfrm xmlns:a="http://schemas.openxmlformats.org/drawingml/2006/main">
            <a:off x="697554" y="1543050"/>
            <a:ext cx="6872591" cy="4486275"/>
          </a:xfrm>
          <a:prstGeom xmlns:a="http://schemas.openxmlformats.org/drawingml/2006/main" prst="roundRect">
            <a:avLst>
              <a:gd name="adj" fmla="val 1699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D21C4D-7ACA-46DC-89FD-B46824C8D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6192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766E"/>
                </a:solidFill>
              </a:defRPr>
            </a:pPr>
            <a:r>
              <a:rPr sz="1500" b="1">
                <a:solidFill>
                  <a:srgbClr val="0F766E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2CC90A-BB8D-4546-B2D9-A319DE479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60020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8242E"/>
                </a:solidFill>
              </a:defRPr>
            </a:pPr>
            <a:r>
              <a:rPr sz="1425" b="1">
                <a:solidFill>
                  <a:srgbClr val="18242E"/>
                </a:solidFill>
              </a:rPr>
              <a:t>CodeSystem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4AC125-FC2C-4134-8773-EDAAEB0B0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89547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283"/>
                </a:solidFill>
              </a:defRPr>
            </a:pPr>
            <a:r>
              <a:rPr sz="1125" b="0">
                <a:solidFill>
                  <a:srgbClr val="607283"/>
                </a:solidFill>
              </a:rPr>
              <a:t>represents local site terms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17E657-8E27-4F9E-ADC1-3DDC226C8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6479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766E"/>
                </a:solidFill>
              </a:defRPr>
            </a:pPr>
            <a:r>
              <a:rPr sz="1500" b="1">
                <a:solidFill>
                  <a:srgbClr val="0F766E"/>
                </a:solidFill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34D3B3-F6A0-470D-BDDC-D77ACC386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62890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8242E"/>
                </a:solidFill>
              </a:defRPr>
            </a:pPr>
            <a:r>
              <a:rPr sz="1425" b="1">
                <a:solidFill>
                  <a:srgbClr val="18242E"/>
                </a:solidFill>
              </a:rPr>
              <a:t>ValueSet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3945FA-6B73-4FD2-A11D-1F4A2CC90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92417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283"/>
                </a:solidFill>
              </a:defRPr>
            </a:pPr>
            <a:r>
              <a:rPr sz="1125" b="0">
                <a:solidFill>
                  <a:srgbClr val="607283"/>
                </a:solidFill>
              </a:rPr>
              <a:t>constrains allowed targets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DB2DFB-EE5A-4485-AC91-0B3833EDF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6766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766E"/>
                </a:solidFill>
              </a:defRPr>
            </a:pPr>
            <a:r>
              <a:rPr sz="1500" b="1">
                <a:solidFill>
                  <a:srgbClr val="0F766E"/>
                </a:solidFill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F7A36D-2191-4938-8046-766196AB0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65760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8242E"/>
                </a:solidFill>
              </a:defRPr>
            </a:pPr>
            <a:r>
              <a:rPr sz="1425" b="1">
                <a:solidFill>
                  <a:srgbClr val="18242E"/>
                </a:solidFill>
              </a:rPr>
              <a:t>ConceptMap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8F1D2D-DE8F-487F-BE33-564E655C5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95287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283"/>
                </a:solidFill>
              </a:defRPr>
            </a:pPr>
            <a:r>
              <a:rPr sz="1125" b="0">
                <a:solidFill>
                  <a:srgbClr val="607283"/>
                </a:solidFill>
              </a:rPr>
              <a:t>publishes local → standard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9EDD3B-3D0D-44B3-95A7-AC3B8BD7F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7053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766E"/>
                </a:solidFill>
              </a:defRPr>
            </a:pPr>
            <a:r>
              <a:rPr sz="1500" b="1">
                <a:solidFill>
                  <a:srgbClr val="0F766E"/>
                </a:solidFill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466CFB-E9C6-4B9B-99E5-0CDC3C01B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686300"/>
            <a:ext cx="304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42E"/>
                </a:solidFill>
              </a:defRPr>
            </a:pPr>
            <a:r>
              <a:rPr sz="1200" b="1">
                <a:solidFill>
                  <a:srgbClr val="18242E"/>
                </a:solidFill>
              </a:rPr>
              <a:t>$translate / $lookup / $validate-code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EFD8DB-0A56-4A42-BD71-BBEA4CDE8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51816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283"/>
                </a:solidFill>
              </a:defRPr>
            </a:pPr>
            <a:r>
              <a:rPr sz="1125" b="0">
                <a:solidFill>
                  <a:srgbClr val="607283"/>
                </a:solidFill>
              </a:rPr>
              <a:t>records validation evidence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034A06-526A-49A4-B8E0-5C3102FFC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743575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66B00"/>
                </a:solidFill>
              </a:defRPr>
            </a:pPr>
            <a:r>
              <a:rPr sz="1125" b="1">
                <a:solidFill>
                  <a:srgbClr val="B66B00"/>
                </a:solidFill>
              </a:rPr>
              <a:t>Below 0.70 confidence → unresolved + human review</a:t>
            </a:r>
          </a:p>
        </p:txBody>
      </p:sp>
    </p:spTree>
    <p:extLst>
      <p:ext uri="{BB962C8B-B14F-4D97-AF65-F5344CB8AC3E}">
        <p14:creationId xmlns:p14="http://schemas.microsoft.com/office/powerpoint/2010/main" val="163510479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6AA347A-FBC1-41B7-9348-10D9EDF56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DD3931-F9F1-4665-B023-967B06A9C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766E"/>
                </a:solidFill>
              </a:defRPr>
            </a:pPr>
            <a:r>
              <a:rPr sz="900" b="1">
                <a:solidFill>
                  <a:srgbClr val="0F766E"/>
                </a:solidFill>
              </a:rPr>
              <a:t>VALIDATION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20CA40-D7E3-45B3-9BC7-192B18970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26670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07283"/>
                </a:solidFill>
              </a:defRPr>
            </a:pPr>
            <a:r>
              <a:rPr sz="900" b="1">
                <a:solidFill>
                  <a:srgbClr val="607283"/>
                </a:solidFill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690F04-3710-48CD-B488-6097A73C8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36C3B6-CFA1-4B43-8953-AF426F733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81775"/>
            <a:ext cx="628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07283"/>
                </a:solidFill>
              </a:defRPr>
            </a:pPr>
            <a:r>
              <a:rPr sz="750" b="0">
                <a:solidFill>
                  <a:srgbClr val="607283"/>
                </a:solidFill>
              </a:rPr>
              <a:t>Cross-Border IPS AI Agent · HL7 AI Challenge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3A685E-72A6-4CFC-8B88-D4F2350EE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10668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8242E"/>
                </a:solidFill>
              </a:defRPr>
            </a:pPr>
            <a:r>
              <a:rPr sz="2850" b="1">
                <a:solidFill>
                  <a:srgbClr val="18242E"/>
                </a:solidFill>
              </a:rPr>
              <a:t>All four exchange Bundles pass the IPS 2.0.1 profile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D3CF1A-BC30-4C18-8D31-3601A1394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7865C"/>
                </a:solidFill>
              </a:defRPr>
            </a:pPr>
            <a:r>
              <a:rPr sz="3150" b="1">
                <a:solidFill>
                  <a:srgbClr val="27865C"/>
                </a:solidFill>
              </a:rPr>
              <a:t>4/4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AC36BD-8807-49D2-AA35-4A99550E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6220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283"/>
                </a:solidFill>
              </a:defRPr>
            </a:pPr>
            <a:r>
              <a:rPr sz="1125" b="0">
                <a:solidFill>
                  <a:srgbClr val="607283"/>
                </a:solidFill>
              </a:rPr>
              <a:t>current route Bundles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F8D04C-7F76-44E1-8136-679FAB8ED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051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7865C"/>
                </a:solidFill>
              </a:defRPr>
            </a:pPr>
            <a:r>
              <a:rPr sz="3150" b="1">
                <a:solidFill>
                  <a:srgbClr val="27865C"/>
                </a:solidFill>
              </a:rPr>
              <a:t>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80EFD1-90E9-4B45-8184-66E8D2C3A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5760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283"/>
                </a:solidFill>
              </a:defRPr>
            </a:pPr>
            <a:r>
              <a:rPr sz="1125" b="0">
                <a:solidFill>
                  <a:srgbClr val="607283"/>
                </a:solidFill>
              </a:rPr>
              <a:t>errors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257644-7E0D-46AF-ADA8-2B8C0D7BA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005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7865C"/>
                </a:solidFill>
              </a:defRPr>
            </a:pPr>
            <a:r>
              <a:rPr sz="3150" b="1">
                <a:solidFill>
                  <a:srgbClr val="27865C"/>
                </a:solidFill>
              </a:rPr>
              <a:t>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67BEF2-3CCC-416A-9757-93E2C7B23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283"/>
                </a:solidFill>
              </a:defRPr>
            </a:pPr>
            <a:r>
              <a:rPr sz="1125" b="0">
                <a:solidFill>
                  <a:srgbClr val="607283"/>
                </a:solidFill>
              </a:rPr>
              <a:t>warnings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2892D2-BD50-42F4-A1FC-83DB9BC3D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66B00"/>
                </a:solidFill>
              </a:defRPr>
            </a:pPr>
            <a:r>
              <a:rPr sz="1275" b="1">
                <a:solidFill>
                  <a:srgbClr val="B66B00"/>
                </a:solidFill>
              </a:rPr>
              <a:t>2 information notes per Bundle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36B759-EC10-4B6B-8F45-E726B50D4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67400"/>
            <a:ext cx="304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07283"/>
                </a:solidFill>
              </a:defRPr>
            </a:pPr>
            <a:r>
              <a:rPr sz="975" b="0">
                <a:solidFill>
                  <a:srgbClr val="607283"/>
                </a:solidFill>
              </a:rPr>
              <a:t>RxNorm ingredient codes are outside the IPS guide's recommended medication ValueSet.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77F403-BABB-40A0-859A-81FFD703C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1428750"/>
            <a:ext cx="7639050" cy="4857750"/>
          </a:xfrm>
          <a:prstGeom xmlns:a="http://schemas.openxmlformats.org/drawingml/2006/main" prst="roundRect">
            <a:avLst>
              <a:gd name="adj" fmla="val 15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6"/>
            </a:solidFill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318a5d63bd4c85"/>
          <a:stretch xmlns:a="http://schemas.openxmlformats.org/drawingml/2006/main"/>
        </p:blipFill>
        <p:spPr>
          <a:xfrm xmlns:a="http://schemas.openxmlformats.org/drawingml/2006/main">
            <a:off x="4247567" y="1543050"/>
            <a:ext cx="6802016" cy="4629150"/>
          </a:xfrm>
          <a:prstGeom xmlns:a="http://schemas.openxmlformats.org/drawingml/2006/main" prst="roundRect">
            <a:avLst>
              <a:gd name="adj" fmla="val 1646"/>
            </a:avLst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F739A0-4509-4009-9A8A-70751AC35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6210300"/>
            <a:ext cx="695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07283"/>
                </a:solidFill>
              </a:defRPr>
            </a:pPr>
            <a:r>
              <a:rPr sz="900" b="1">
                <a:solidFill>
                  <a:srgbClr val="607283"/>
                </a:solidFill>
              </a:rPr>
              <a:t>Structural/profile conformance for synthetic Bundles; not clinical or national certification.</a:t>
            </a:r>
          </a:p>
        </p:txBody>
      </p:sp>
    </p:spTree>
    <p:extLst>
      <p:ext uri="{BB962C8B-B14F-4D97-AF65-F5344CB8AC3E}">
        <p14:creationId xmlns:p14="http://schemas.microsoft.com/office/powerpoint/2010/main" val="23912405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26D46DD-0D01-46E8-B5C4-7B23DFC33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F13E8D-19EA-4795-AE05-2BE38B66E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766E"/>
                </a:solidFill>
              </a:defRPr>
            </a:pPr>
            <a:r>
              <a:rPr sz="900" b="1">
                <a:solidFill>
                  <a:srgbClr val="0F766E"/>
                </a:solidFill>
              </a:rPr>
              <a:t>CROSS-BORDER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788E69-2DB4-406E-B487-00F96A53A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26670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07283"/>
                </a:solidFill>
              </a:defRPr>
            </a:pPr>
            <a:r>
              <a:rPr sz="900" b="1">
                <a:solidFill>
                  <a:srgbClr val="607283"/>
                </a:solidFill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15E57B-9179-4AB8-8C88-9FBB2436E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9F6794-E406-4725-8A49-39219474F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81775"/>
            <a:ext cx="628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07283"/>
                </a:solidFill>
              </a:defRPr>
            </a:pPr>
            <a:r>
              <a:rPr sz="750" b="0">
                <a:solidFill>
                  <a:srgbClr val="607283"/>
                </a:solidFill>
              </a:rPr>
              <a:t>Cross-Border IPS AI Agent · HL7 AI Challenge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49C7BA-E81F-43AB-9B03-F7242AEBF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10668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8242E"/>
                </a:solidFill>
              </a:defRPr>
            </a:pPr>
            <a:r>
              <a:rPr sz="2850" b="1">
                <a:solidFill>
                  <a:srgbClr val="18242E"/>
                </a:solidFill>
              </a:rPr>
              <a:t>One machine-readable summary supports four receiver journeys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D54D8E-9E08-4AB2-ACBD-3FD17AAA4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573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75B55"/>
                </a:solidFill>
              </a:defRPr>
            </a:pPr>
            <a:r>
              <a:rPr sz="1350" b="1">
                <a:solidFill>
                  <a:srgbClr val="075B55"/>
                </a:solidFill>
              </a:rPr>
              <a:t>USA → India · India → USA · Australia → Europe · Europe → USA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c5c16395ef4d49"/>
          <a:stretch xmlns:a="http://schemas.openxmlformats.org/drawingml/2006/main"/>
        </p:blipFill>
        <p:spPr>
          <a:xfrm xmlns:a="http://schemas.openxmlformats.org/drawingml/2006/main">
            <a:off x="2855686" y="1600200"/>
            <a:ext cx="6480629" cy="4476750"/>
          </a:xfrm>
          <a:prstGeom xmlns:a="http://schemas.openxmlformats.org/drawingml/2006/main" prst="roundRect">
            <a:avLst>
              <a:gd name="adj" fmla="val 1702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001E9F-9E69-4315-B504-3FF507301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15050"/>
            <a:ext cx="1085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607283"/>
                </a:solidFill>
              </a:defRPr>
            </a:pPr>
            <a:r>
              <a:rPr sz="1125" b="1">
                <a:solidFill>
                  <a:srgbClr val="607283"/>
                </a:solidFill>
              </a:rPr>
              <a:t>The PDFs are readable renderings. The FHIR IPS Bundle remains the system-facing source of truth.</a:t>
            </a:r>
          </a:p>
        </p:txBody>
      </p:sp>
    </p:spTree>
    <p:extLst>
      <p:ext uri="{BB962C8B-B14F-4D97-AF65-F5344CB8AC3E}">
        <p14:creationId xmlns:p14="http://schemas.microsoft.com/office/powerpoint/2010/main" val="88119595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9A82FD8-0540-4033-A070-950EC4807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5192A6-02AE-4F50-BCB1-C67295978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766E"/>
                </a:solidFill>
              </a:defRPr>
            </a:pPr>
            <a:r>
              <a:rPr sz="900" b="1">
                <a:solidFill>
                  <a:srgbClr val="0F766E"/>
                </a:solidFill>
              </a:rPr>
              <a:t>REPRODUCIBILITY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B4F65E-9E07-4083-AF68-B62802772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26670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07283"/>
                </a:solidFill>
              </a:defRPr>
            </a:pPr>
            <a:r>
              <a:rPr sz="900" b="1">
                <a:solidFill>
                  <a:srgbClr val="607283"/>
                </a:solidFill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49DCDA-2048-4CFE-9151-CF3B11393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B1662E-F4C8-4489-8B43-668833234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81775"/>
            <a:ext cx="628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07283"/>
                </a:solidFill>
              </a:defRPr>
            </a:pPr>
            <a:r>
              <a:rPr sz="750" b="0">
                <a:solidFill>
                  <a:srgbClr val="607283"/>
                </a:solidFill>
              </a:rPr>
              <a:t>Cross-Border IPS AI Agent · HL7 AI Challenge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B27E55-8357-41B2-BB91-E1424BF5D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10668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8242E"/>
                </a:solidFill>
              </a:defRPr>
            </a:pPr>
            <a:r>
              <a:rPr sz="2850" b="1">
                <a:solidFill>
                  <a:srgbClr val="18242E"/>
                </a:solidFill>
              </a:rPr>
              <a:t>The evidence is executable, downloadable, and reviewable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F8612B-BC77-443B-A5F3-4394DED70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1450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7865C"/>
                </a:solidFill>
              </a:defRPr>
            </a:pPr>
            <a:r>
              <a:rPr sz="3150" b="1">
                <a:solidFill>
                  <a:srgbClr val="27865C"/>
                </a:solidFill>
              </a:rPr>
              <a:t>15/15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C17618-19C5-4161-8619-3D01D882D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66950"/>
            <a:ext cx="314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283"/>
                </a:solidFill>
              </a:defRPr>
            </a:pPr>
            <a:r>
              <a:rPr sz="1125" b="0">
                <a:solidFill>
                  <a:srgbClr val="607283"/>
                </a:solidFill>
              </a:rPr>
              <a:t>frontend behavior and evidence tests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13CCDA-8A32-468D-B253-DDCC89671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0990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7865C"/>
                </a:solidFill>
              </a:defRPr>
            </a:pPr>
            <a:r>
              <a:rPr sz="3150" b="1">
                <a:solidFill>
                  <a:srgbClr val="27865C"/>
                </a:solidFill>
              </a:rPr>
              <a:t>13/13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0625AF-FFBB-447B-832C-BF2809974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62350"/>
            <a:ext cx="314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283"/>
                </a:solidFill>
              </a:defRPr>
            </a:pPr>
            <a:r>
              <a:rPr sz="1125" b="0">
                <a:solidFill>
                  <a:srgbClr val="607283"/>
                </a:solidFill>
              </a:rPr>
              <a:t>Python pipeline and FedAvg tests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E0ED53-ACA7-4E38-899D-78BE6BF75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0530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7865C"/>
                </a:solidFill>
              </a:defRPr>
            </a:pPr>
            <a:r>
              <a:rPr sz="3150" b="1">
                <a:solidFill>
                  <a:srgbClr val="27865C"/>
                </a:solidFill>
              </a:rPr>
              <a:t>16/16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DEA068-E3E3-4E21-9AA9-3800E8586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57750"/>
            <a:ext cx="314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283"/>
                </a:solidFill>
              </a:defRPr>
            </a:pPr>
            <a:r>
              <a:rPr sz="1125" b="0">
                <a:solidFill>
                  <a:srgbClr val="607283"/>
                </a:solidFill>
              </a:rPr>
              <a:t>route downloads click-tested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B5ECD5-8EC5-4976-9252-0EED46166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562100"/>
            <a:ext cx="7067550" cy="4286250"/>
          </a:xfrm>
          <a:prstGeom xmlns:a="http://schemas.openxmlformats.org/drawingml/2006/main" prst="roundRect">
            <a:avLst>
              <a:gd name="adj" fmla="val 1778"/>
            </a:avLst>
          </a:prstGeom>
          <a:solidFill xmlns:a="http://schemas.openxmlformats.org/drawingml/2006/main">
            <a:srgbClr val="18242E"/>
          </a:solidFill>
          <a:ln xmlns:a="http://schemas.openxmlformats.org/drawingml/2006/main" w="9525">
            <a:solidFill>
              <a:srgbClr val="18242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97D87B-AA4A-497F-98CF-46EBE6152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1952625"/>
            <a:ext cx="62865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DF7EC"/>
                </a:solidFill>
              </a:defRPr>
            </a:pPr>
            <a:r>
              <a:rPr sz="1650" b="0">
                <a:solidFill>
                  <a:srgbClr val="DDF7EC"/>
                </a:solidFill>
              </a:rPr>
              <a:t>$ npm test -- --run</a:t>
            </a:r>
          </a:p>
          <a:p xmlns:a="http://schemas.openxmlformats.org/drawingml/2006/main">
            <a:pPr algn="l">
              <a:defRPr sz="1650" b="0">
                <a:solidFill>
                  <a:srgbClr val="DDF7EC"/>
                </a:solidFill>
              </a:defRPr>
            </a:pPr>
            <a:r>
              <a:rPr sz="1650" b="0">
                <a:solidFill>
                  <a:srgbClr val="DDF7EC"/>
                </a:solidFill>
              </a:rPr>
              <a:t>✓ 15 tests passed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DDF7EC"/>
                </a:solidFill>
              </a:defRPr>
            </a:pPr>
            <a:r>
              <a:rPr sz="1650" b="0">
                <a:solidFill>
                  <a:srgbClr val="DDF7EC"/>
                </a:solidFill>
              </a:rPr>
              <a:t>$ PYTHONPATH=src pytest -q</a:t>
            </a:r>
          </a:p>
          <a:p xmlns:a="http://schemas.openxmlformats.org/drawingml/2006/main">
            <a:pPr algn="l">
              <a:defRPr sz="1650" b="0">
                <a:solidFill>
                  <a:srgbClr val="DDF7EC"/>
                </a:solidFill>
              </a:defRPr>
            </a:pPr>
            <a:r>
              <a:rPr sz="1650" b="0">
                <a:solidFill>
                  <a:srgbClr val="DDF7EC"/>
                </a:solidFill>
              </a:rPr>
              <a:t>✓ 13 tests passed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DDF7EC"/>
                </a:solidFill>
              </a:defRPr>
            </a:pPr>
            <a:r>
              <a:rPr sz="1650" b="0">
                <a:solidFill>
                  <a:srgbClr val="DDF7EC"/>
                </a:solidFill>
              </a:rPr>
              <a:t>$ HL7 FHIR Validator + IPS 2.0.1</a:t>
            </a:r>
          </a:p>
          <a:p xmlns:a="http://schemas.openxmlformats.org/drawingml/2006/main">
            <a:pPr algn="l">
              <a:defRPr sz="1650" b="0">
                <a:solidFill>
                  <a:srgbClr val="DDF7EC"/>
                </a:solidFill>
              </a:defRPr>
            </a:pPr>
            <a:r>
              <a:rPr sz="1650" b="0">
                <a:solidFill>
                  <a:srgbClr val="DDF7EC"/>
                </a:solidFill>
              </a:rPr>
              <a:t>✓ 4 Bundles · 0 errors · 0 warnings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29268C-B87E-4E71-8C3E-057EDE74B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219700"/>
            <a:ext cx="619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</a:defRPr>
            </a:pPr>
            <a:r>
              <a:rPr sz="1050" b="0">
                <a:solidFill>
                  <a:srgbClr val="FFFFFF"/>
                </a:solidFill>
              </a:rPr>
              <a:t>GitHub includes the real PyTorch clients, FedAvg coordinator, benchmark JSON, Bundles, PDFs, screenshots, and unedited validator logs.</a:t>
            </a:r>
          </a:p>
        </p:txBody>
      </p:sp>
    </p:spTree>
    <p:extLst>
      <p:ext uri="{BB962C8B-B14F-4D97-AF65-F5344CB8AC3E}">
        <p14:creationId xmlns:p14="http://schemas.microsoft.com/office/powerpoint/2010/main" val="129512011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5B5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BFB2717-6F2F-4ACD-A4A2-D1990543B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9FE1D6"/>
                </a:solidFill>
              </a:defRPr>
            </a:pPr>
            <a:r>
              <a:rPr sz="975" b="1">
                <a:solidFill>
                  <a:srgbClr val="9FE1D6"/>
                </a:solidFill>
              </a:rPr>
              <a:t>THE CLOSING CLAIM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7328DE-D718-494A-80D4-42151ADD3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43000"/>
            <a:ext cx="10477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FFFFF"/>
                </a:solidFill>
              </a:defRPr>
            </a:pPr>
            <a:r>
              <a:rPr sz="3600" b="1">
                <a:solidFill>
                  <a:srgbClr val="FFFFFF"/>
                </a:solidFill>
              </a:rPr>
              <a:t>The standards do the traveling.</a:t>
            </a:r>
          </a:p>
          <a:p xmlns:a="http://schemas.openxmlformats.org/drawingml/2006/main">
            <a:pPr algn="l">
              <a:defRPr sz="3600" b="1">
                <a:solidFill>
                  <a:srgbClr val="FFFFFF"/>
                </a:solidFill>
              </a:defRPr>
            </a:pPr>
            <a:r>
              <a:rPr sz="3600" b="1">
                <a:solidFill>
                  <a:srgbClr val="FFFFFF"/>
                </a:solidFill>
              </a:rPr>
              <a:t>The reports stay local.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BDF7EC-FAFE-4D43-9DD8-303225230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14650"/>
            <a:ext cx="31432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B6A62"/>
          </a:solidFill>
          <a:ln xmlns:a="http://schemas.openxmlformats.org/drawingml/2006/main" w="9525">
            <a:solidFill>
              <a:srgbClr val="3B9E9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7C97A0-C86E-4223-937C-E1E249D89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1945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Federated learning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AEA5AB-8731-4F9D-8283-27EE080EB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95700"/>
            <a:ext cx="25527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7F2ED"/>
                </a:solidFill>
              </a:defRPr>
            </a:pPr>
            <a:r>
              <a:rPr sz="1275" b="0">
                <a:solidFill>
                  <a:srgbClr val="D7F2ED"/>
                </a:solidFill>
              </a:rPr>
              <a:t>aligns local clinical terminology without centralizing raw reports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861274-FCED-473D-B3CE-AC433B87C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914650"/>
            <a:ext cx="31432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B6A62"/>
          </a:solidFill>
          <a:ln xmlns:a="http://schemas.openxmlformats.org/drawingml/2006/main" w="9525">
            <a:solidFill>
              <a:srgbClr val="3B9E9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B7148E-9665-4783-A730-782286C00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21945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FHIR terminology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3D03A2-277B-464D-84AD-8C6E90E0C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695700"/>
            <a:ext cx="25527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7F2ED"/>
                </a:solidFill>
              </a:defRPr>
            </a:pPr>
            <a:r>
              <a:rPr sz="1275" b="0">
                <a:solidFill>
                  <a:srgbClr val="D7F2ED"/>
                </a:solidFill>
              </a:rPr>
              <a:t>makes CodeSystem, ValueSet, ConceptMap, and validation evidence auditable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D382E5-5FFA-448B-87CD-3C6D69F52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914650"/>
            <a:ext cx="31432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B6A62"/>
          </a:solidFill>
          <a:ln xmlns:a="http://schemas.openxmlformats.org/drawingml/2006/main" w="9525">
            <a:solidFill>
              <a:srgbClr val="3B9E9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E64EF0-9521-46C5-98B8-1EC2F68DD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2194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FHIR IPS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FD4348-C76D-486E-848D-1A7FBBA85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695700"/>
            <a:ext cx="25527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7F2ED"/>
                </a:solidFill>
              </a:defRPr>
            </a:pPr>
            <a:r>
              <a:rPr sz="1275" b="0">
                <a:solidFill>
                  <a:srgbClr val="D7F2ED"/>
                </a:solidFill>
              </a:rPr>
              <a:t>packages coded facts into a cross-border patient summary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EE8B36-9FA7-4A2E-BF0B-B7F4B94E7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FE1D6"/>
                </a:solidFill>
              </a:defRPr>
            </a:pPr>
            <a:r>
              <a:rPr sz="1200" b="1">
                <a:solidFill>
                  <a:srgbClr val="9FE1D6"/>
                </a:solidFill>
              </a:rPr>
              <a:t>Working demo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A16142-4BB9-44C6-9EBE-B8F5E438F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86450"/>
            <a:ext cx="619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crossroad-fhir-link-three.vercel.app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E24E25-8A48-4545-94BA-DA66CB88B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E1D6"/>
                </a:solidFill>
              </a:defRPr>
            </a:pPr>
            <a:r>
              <a:rPr sz="900" b="0">
                <a:solidFill>
                  <a:srgbClr val="9FE1D6"/>
                </a:solidFill>
              </a:rPr>
              <a:t>Synthetic prototype · readiness checks only · no formal privacy guarantee</a:t>
            </a:r>
          </a:p>
        </p:txBody>
      </p:sp>
    </p:spTree>
    <p:extLst>
      <p:ext uri="{BB962C8B-B14F-4D97-AF65-F5344CB8AC3E}">
        <p14:creationId xmlns:p14="http://schemas.microsoft.com/office/powerpoint/2010/main" val="202165836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2026-07-11T20:56:35.4540000Z</dcterms:created>
  <dcterms:modified xsi:type="dcterms:W3CDTF">2026-07-11T20:56:35.4540000Z</dcterms:modified>
</coreProperties>
</file>